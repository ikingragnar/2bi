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0" y="365760"/>
            <a:ext cx="731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10652760" y="1828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927080" y="36576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8961120" y="12801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Intelligence Studio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37744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Flagship</a:t>
            </a:r>
            <a:endParaRPr lang="en-US" sz="7600" dirty="0"/>
          </a:p>
        </p:txBody>
      </p:sp>
      <p:sp>
        <p:nvSpPr>
          <p:cNvPr id="10" name="Text 8"/>
          <p:cNvSpPr/>
          <p:nvPr/>
        </p:nvSpPr>
        <p:spPr>
          <a:xfrm>
            <a:off x="731520" y="36576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usuario funcional a Consultor BI en 8 semanas.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31520" y="4434840"/>
            <a:ext cx="2743200" cy="0"/>
          </a:xfrm>
          <a:prstGeom prst="line">
            <a:avLst/>
          </a:prstGeom>
          <a:noFill/>
          <a:ln w="38100">
            <a:solidFill>
              <a:srgbClr val="D4AC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4617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sesiones  ·  16 horas  ·  $8,500 MXN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" y="56692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Business Intelligence Studio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5989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que multiplica tu negocio.  ·  guillermorc44@gmail.com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Tienes Power BI instalado.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178308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la herramienta no te está pagando lo que debería.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274320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299008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990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1325880" y="288036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 reportes tardan más de lo que deberían en cargar y nadie sabe por qué.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274320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55080" y="299008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55080" y="2990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7040880" y="288036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lunes copias y pegas las mismas medidas DAX, sin entender qué hace CALCULATE.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" y="393192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40080" y="417880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41788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1325880" y="406908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 dashboards "se ven bien" pero los directivos los abren una vez y nunca más.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172200" y="393192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55080" y="417880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55080" y="41788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7040880" y="406908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Sigues exportando a Excel para hacer el "análisis real" — el dashboard no te da respuestas.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57200" y="512064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" y="536752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53675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25" name="Text 22"/>
          <p:cNvSpPr/>
          <p:nvPr/>
        </p:nvSpPr>
        <p:spPr>
          <a:xfrm>
            <a:off x="1325880" y="525780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Sabes que dominar Power BI vale dinero — pero los cursos te dejan a medias.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172200" y="512064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355080" y="536752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355080" y="53675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29" name="Text 26"/>
          <p:cNvSpPr/>
          <p:nvPr/>
        </p:nvSpPr>
        <p:spPr>
          <a:xfrm>
            <a:off x="7040880" y="525780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jefe (o tu cliente) espera más de ti, y tú sabes que sí podrías llegar más lejos.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5720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Programa Flagship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verdad incómoda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972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90% de los cursos te enseña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visualizaciones. El 10% que importa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en el modelo y en DAX.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10972800" cy="1737360"/>
          </a:xfrm>
          <a:prstGeom prst="roundRect">
            <a:avLst>
              <a:gd name="adj" fmla="val 7895"/>
            </a:avLst>
          </a:prstGeom>
          <a:solidFill>
            <a:srgbClr val="15406B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480560"/>
            <a:ext cx="2560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3474720" y="4617720"/>
            <a:ext cx="7955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reportes lentos en producción tienen el mismo problema raíz: modelo mal diseñado, columnas calculadas innecesarias y bidireccional cuando no se necesita. Nada se arregla cambiando la gráfica.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vas a transformar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del programa  →  Después del programa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94560"/>
            <a:ext cx="5532120" cy="4297680"/>
          </a:xfrm>
          <a:prstGeom prst="roundRect">
            <a:avLst>
              <a:gd name="adj" fmla="val 3191"/>
            </a:avLst>
          </a:prstGeom>
          <a:solidFill>
            <a:srgbClr val="FCE4E4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85800" y="28803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Reportes lentos sin saber por qué.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3383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DAX que copias de Stack Overflow.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85800" y="38862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Tabla plana con todo en una hoja.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85800" y="4389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Dashboards que nadie usa.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" y="4892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Sin proceso de versionado.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85800" y="53949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Manual: cada lunes refrescas a mano.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85800" y="58978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Cobras como junior o no cobras.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172200" y="2194560"/>
            <a:ext cx="5532120" cy="4297680"/>
          </a:xfrm>
          <a:prstGeom prst="roundRect">
            <a:avLst>
              <a:gd name="adj" fmla="val 3191"/>
            </a:avLst>
          </a:prstGeom>
          <a:solidFill>
            <a:srgbClr val="E0F4EC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5508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400800" y="28803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Reporte &lt; 3s, optimizado con DAX Studio.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400800" y="3383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DAX que escribes desde cero.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00800" y="38862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Star schema con calendario y RLS.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Dashboards ejecutivos que se usan diario.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00800" y="4892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.pbip + Git: versionado profesional.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400800" y="53949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Refresh + alertas automatizadas.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400800" y="58978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Cobras proyectos BI freelance o subes de puesto.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es 2BI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2011680"/>
            <a:ext cx="3017520" cy="3017520"/>
          </a:xfrm>
          <a:prstGeom prst="ellipse">
            <a:avLst/>
          </a:prstGeom>
          <a:solidFill>
            <a:srgbClr val="0F1B2D"/>
          </a:solidFill>
          <a:ln w="50800">
            <a:solidFill>
              <a:srgbClr val="D4AC4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2011680"/>
            <a:ext cx="15087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0" dirty="0"/>
          </a:p>
        </p:txBody>
      </p:sp>
      <p:sp>
        <p:nvSpPr>
          <p:cNvPr id="7" name="Text 4"/>
          <p:cNvSpPr/>
          <p:nvPr/>
        </p:nvSpPr>
        <p:spPr>
          <a:xfrm>
            <a:off x="2148840" y="2011680"/>
            <a:ext cx="15087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</a:t>
            </a:r>
            <a:endParaRPr lang="en-US" sz="11000" dirty="0"/>
          </a:p>
        </p:txBody>
      </p:sp>
      <p:sp>
        <p:nvSpPr>
          <p:cNvPr id="8" name="Text 5"/>
          <p:cNvSpPr/>
          <p:nvPr/>
        </p:nvSpPr>
        <p:spPr>
          <a:xfrm>
            <a:off x="4114800" y="2103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Business Intelligence Studio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4114800" y="26060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que multiplica tu negocio.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114800" y="32004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Modelado dimensional y DAX avanzado en producción.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114800" y="36576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Power Query, SQL Server, Firebird, DuckDB, PostgreSQL.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114800" y="41148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Power BI Premium, Premium Capacity y Semantic Link.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114800" y="4572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Python (DAX Studio, pandas, Tabular Editor) y AI agents.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114800" y="5029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Power BI Subscriptions, Smart Narrative, orquestación de agentes.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114800" y="54864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Datasets reales &gt; 20M filas en proyectos productivos.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57200" y="5989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 te enseñamos Power BI. Te enseñamos a pensar como un arquitecto BI."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programa  ·  8 sesiones, 16 horas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 1 online (Zoom / Meet)  ·  8 sesiones, 1 vez por semana, durante 8 semanas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02920" y="2240280"/>
            <a:ext cx="2788920" cy="1965960"/>
          </a:xfrm>
          <a:prstGeom prst="roundRect">
            <a:avLst>
              <a:gd name="adj" fmla="val 4651"/>
            </a:avLst>
          </a:prstGeom>
          <a:solidFill>
            <a:srgbClr val="0F1B2D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2377440"/>
            <a:ext cx="548640" cy="548640"/>
          </a:xfrm>
          <a:prstGeom prst="ellipse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40080" y="3017520"/>
            <a:ext cx="2514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BI 2026 + Power Query Profesional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83280" y="2240280"/>
            <a:ext cx="2788920" cy="1965960"/>
          </a:xfrm>
          <a:prstGeom prst="roundRect">
            <a:avLst>
              <a:gd name="adj" fmla="val 4651"/>
            </a:avLst>
          </a:prstGeom>
          <a:solidFill>
            <a:srgbClr val="0F1B2D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20440" y="2377440"/>
            <a:ext cx="548640" cy="548640"/>
          </a:xfrm>
          <a:prstGeom prst="ellipse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2044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3520440" y="3017520"/>
            <a:ext cx="2514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Dimensional + Calendario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63640" y="2240280"/>
            <a:ext cx="2788920" cy="1965960"/>
          </a:xfrm>
          <a:prstGeom prst="roundRect">
            <a:avLst>
              <a:gd name="adj" fmla="val 4651"/>
            </a:avLst>
          </a:prstGeom>
          <a:solidFill>
            <a:srgbClr val="0F1B2D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400800" y="2377440"/>
            <a:ext cx="548640" cy="548640"/>
          </a:xfrm>
          <a:prstGeom prst="ellipse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400800" y="3017520"/>
            <a:ext cx="2514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I — Contextos, CALCULATE, Iteradores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144000" y="2240280"/>
            <a:ext cx="2788920" cy="1965960"/>
          </a:xfrm>
          <a:prstGeom prst="roundRect">
            <a:avLst>
              <a:gd name="adj" fmla="val 4651"/>
            </a:avLst>
          </a:prstGeom>
          <a:solidFill>
            <a:srgbClr val="0F1B2D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281160" y="2377440"/>
            <a:ext cx="548640" cy="548640"/>
          </a:xfrm>
          <a:prstGeom prst="ellipse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8116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9281160" y="3017520"/>
            <a:ext cx="2514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II — Time Intelligence + Calculation Groups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02920" y="4389120"/>
            <a:ext cx="2788920" cy="1965960"/>
          </a:xfrm>
          <a:prstGeom prst="roundRect">
            <a:avLst>
              <a:gd name="adj" fmla="val 4651"/>
            </a:avLst>
          </a:prstGeom>
          <a:solidFill>
            <a:srgbClr val="0F1B2D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" y="4526280"/>
            <a:ext cx="548640" cy="548640"/>
          </a:xfrm>
          <a:prstGeom prst="ellipse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4526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40080" y="5166360"/>
            <a:ext cx="2514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Ejecutiva + UX/UI Profesional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3383280" y="4389120"/>
            <a:ext cx="2788920" cy="1965960"/>
          </a:xfrm>
          <a:prstGeom prst="roundRect">
            <a:avLst>
              <a:gd name="adj" fmla="val 4651"/>
            </a:avLst>
          </a:prstGeom>
          <a:solidFill>
            <a:srgbClr val="0F1B2D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520440" y="4526280"/>
            <a:ext cx="548640" cy="548640"/>
          </a:xfrm>
          <a:prstGeom prst="ellipse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520440" y="4526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3520440" y="5166360"/>
            <a:ext cx="2514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Optimización con DAX Studio + Tabular Editor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263640" y="4389120"/>
            <a:ext cx="2788920" cy="1965960"/>
          </a:xfrm>
          <a:prstGeom prst="roundRect">
            <a:avLst>
              <a:gd name="adj" fmla="val 4651"/>
            </a:avLst>
          </a:prstGeom>
          <a:solidFill>
            <a:srgbClr val="0F1B2D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400800" y="4526280"/>
            <a:ext cx="548640" cy="548640"/>
          </a:xfrm>
          <a:prstGeom prst="ellipse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00800" y="4526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6400800" y="5166360"/>
            <a:ext cx="2514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Service: RLS, Dataflows, Pipelines, REST API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9144000" y="4389120"/>
            <a:ext cx="2788920" cy="1965960"/>
          </a:xfrm>
          <a:prstGeom prst="roundRect">
            <a:avLst>
              <a:gd name="adj" fmla="val 4651"/>
            </a:avLst>
          </a:prstGeom>
          <a:solidFill>
            <a:srgbClr val="0F1B2D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281160" y="4526280"/>
            <a:ext cx="548640" cy="548640"/>
          </a:xfrm>
          <a:prstGeom prst="ellipse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281160" y="4526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sp>
        <p:nvSpPr>
          <p:cNvPr id="37" name="Text 34"/>
          <p:cNvSpPr/>
          <p:nvPr/>
        </p:nvSpPr>
        <p:spPr>
          <a:xfrm>
            <a:off x="9281160" y="5166360"/>
            <a:ext cx="2514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Service Avanzado + Portafolio + Cierre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50+ hacks que te llevas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Cosas que no salen en YouTube y que se aprenden únicamente en producción.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97280" y="17647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Groups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20756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grupo reemplaza 30 medidas duplicadas.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6916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09360" y="16916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766560" y="17647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Parameters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766560" y="20756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 dinámico: efecto wow al CEO.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6060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6060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97280" y="26791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Date/Time = OFF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29900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30% menos memoria.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26060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26060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766560" y="26791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Editor BPA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766560" y="29900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70+ reglas que detectan errores.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5204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5204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97280" y="35935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Studio + Server Timings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39044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FE o SE en 30 segundos.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0" y="35204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35204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766560" y="35935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.pbip + TMDL + Git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766560" y="39044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PRs al modelo = revisión profesional.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44348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4348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1097280" y="45079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Capacity (Power BI Premium)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97280" y="48188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Import sin recargas.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17920" y="44348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09360" y="44348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6766560" y="45079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Calculations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766560" y="48188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totals sin pelear con DAX.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53492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53492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1097280" y="54223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dinámico con bridge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97280" y="57332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Escalable sin 50 roles a mano.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217920" y="53492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09360" y="53492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766560" y="54223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bien promptado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766560" y="57332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0 a 1ª medida útil en 30 segundos.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final  ·  con tus datos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la sesión 4 trabajamos sobre tus datos reales. Sales con un dashboard productivo.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8580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Dimensional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85800" y="3749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documentado con cardinalidades.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297680" y="228600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2628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2628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48056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Medidas DAX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480560" y="3749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Documentadas, optimizadas y reutilizables.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092440" y="228600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32104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104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27532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Ejecutivo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275320" y="3749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corporativo + bookmarks + drill-through.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448056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31520" y="470916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31520" y="47091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685800" y="55778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en Service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685800" y="5943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RLS, refresh automático, pipeline.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297680" y="448056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526280" y="470916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526280" y="47091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4480560" y="55778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4480560" y="5943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1-pager con arquitectura y decisiones.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092440" y="448056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321040" y="470916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321040" y="47091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8275320" y="55778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tu portafolio LinkedIn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8275320" y="5943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Git + post LinkedIn.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recibes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solo clases. Activos digitales que vas a usar por años.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5486400" cy="94869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2286000"/>
            <a:ext cx="109728" cy="94869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2440305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440305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600200" y="242316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sesiones en vivo (1 a 1)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600200" y="278892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horas de mentoría aplicada con tus datos.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72200" y="2286000"/>
            <a:ext cx="5486400" cy="94869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172200" y="2286000"/>
            <a:ext cx="109728" cy="94869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46520" y="2440305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46520" y="2440305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7269480" y="242316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hacks profesionales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269480" y="278892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Documentados, organizados por área.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3371850"/>
            <a:ext cx="5486400" cy="94869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2920" y="3371850"/>
            <a:ext cx="109728" cy="94869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77240" y="3526155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77240" y="3526155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600200" y="350901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Plantillas .pbit listas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600200" y="387477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schema, KPIs ejecutivos, tema corporativo.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172200" y="3371850"/>
            <a:ext cx="5486400" cy="94869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172200" y="3371850"/>
            <a:ext cx="109728" cy="94869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446520" y="3526155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3526155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7269480" y="350901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DAX 30 medidas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269480" y="387477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Documentadas con caso de uso y descripción.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02920" y="4457700"/>
            <a:ext cx="5486400" cy="94869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02920" y="4457700"/>
            <a:ext cx="109728" cy="94869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77240" y="4612005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77240" y="4612005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600200" y="459486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profesional incluido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1600200" y="496062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Studio, Tabular Editor, ALM Toolkit, .pbip.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172200" y="4457700"/>
            <a:ext cx="5486400" cy="94869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172200" y="4457700"/>
            <a:ext cx="109728" cy="94869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446520" y="4612005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446520" y="4612005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7269480" y="459486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Mentoría 30 días post-curso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7269480" y="496062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WhatsApp + revisión de 1 dashboard.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502920" y="5543550"/>
            <a:ext cx="5486400" cy="94869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02920" y="5543550"/>
            <a:ext cx="109728" cy="94869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77240" y="5697855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77240" y="5697855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6" name="Text 43"/>
          <p:cNvSpPr/>
          <p:nvPr/>
        </p:nvSpPr>
        <p:spPr>
          <a:xfrm>
            <a:off x="1600200" y="568071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digital firmado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1600200" y="604647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LinkedIn.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6172200" y="5543550"/>
            <a:ext cx="5486400" cy="94869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172200" y="5543550"/>
            <a:ext cx="109728" cy="94869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446520" y="5697855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6446520" y="5697855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</a:t>
            </a:r>
            <a:endParaRPr lang="en-US" sz="1800" dirty="0"/>
          </a:p>
        </p:txBody>
      </p:sp>
      <p:sp>
        <p:nvSpPr>
          <p:cNvPr id="52" name="Text 49"/>
          <p:cNvSpPr/>
          <p:nvPr/>
        </p:nvSpPr>
        <p:spPr>
          <a:xfrm>
            <a:off x="7269480" y="568071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monetización 90 días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269480" y="604647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cobrar tu primer proyecto BI.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Bonos exclusivos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confirmas el pago en los próximos 7 días, recibes además: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11247120" cy="960120"/>
          </a:xfrm>
          <a:prstGeom prst="rect">
            <a:avLst/>
          </a:prstGeom>
          <a:solidFill>
            <a:srgbClr val="15406B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83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 1 — Sesión Bonus de SQL para BI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2148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JOIN, window functions y CTEs aplicados a Power Query y dataflows.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0" y="1920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$2,500 MXN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34640"/>
            <a:ext cx="11247120" cy="960120"/>
          </a:xfrm>
          <a:prstGeom prst="rect">
            <a:avLst/>
          </a:prstGeom>
          <a:solidFill>
            <a:srgbClr val="15406B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 2 — Workshop DAX Patterns Avanzados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reusables: cohort analysis, ABC, RFM, churn — listos para copy/paste.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0" y="3063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$3,000 MXN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977640"/>
            <a:ext cx="11247120" cy="960120"/>
          </a:xfrm>
          <a:prstGeom prst="rect">
            <a:avLst/>
          </a:prstGeom>
          <a:solidFill>
            <a:srgbClr val="15406B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4069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 3 — Pack 30 dashboards de inspiración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4434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Curados con notas de qué replicar.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686800" y="4206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$1,500 MXN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120640"/>
            <a:ext cx="11247120" cy="960120"/>
          </a:xfrm>
          <a:prstGeom prst="rect">
            <a:avLst/>
          </a:prstGeom>
          <a:solidFill>
            <a:srgbClr val="15406B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5212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 4 — Plantilla de propuesta freelance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5577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cobrar tu primer proyecto BI: tarifas, alcance y términos.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0" y="5349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$2,000 MXN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total de los bonos: $9,000 MXN  ·  Incluido sin costo si confirmas en 7 días.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731520"/>
            <a:ext cx="10332720" cy="5394960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50800">
            <a:solidFill>
              <a:srgbClr val="D4AC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0058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800" kern="0" dirty="0">
                <a:solidFill>
                  <a:srgbClr val="B89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554480"/>
            <a:ext cx="103327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después de la sesión 2 sientes que esto no es para ti, te devuelvo el 100% del pago.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0" y="4023360"/>
            <a:ext cx="3931920" cy="0"/>
          </a:xfrm>
          <a:prstGeom prst="line">
            <a:avLst/>
          </a:prstGeom>
          <a:noFill/>
          <a:ln w="38100">
            <a:solidFill>
              <a:srgbClr val="D4AC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justificaciones. Sin papeleo. Sin condiciones letra chica.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475488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Asumo el riesgo yo, no tú. Si invertimos en ti, tú confías en mí — y yo confío en mi método.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55778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Más del 90% de nuestros alumnos completan el programa.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inversión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en 1 exhibición (5% descuento) o 2 partes sin recargo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2743200" y="2377440"/>
            <a:ext cx="6675120" cy="3840480"/>
          </a:xfrm>
          <a:prstGeom prst="roundRect">
            <a:avLst>
              <a:gd name="adj" fmla="val 4762"/>
            </a:avLst>
          </a:prstGeom>
          <a:solidFill>
            <a:srgbClr val="0F1B2D"/>
          </a:solidFill>
          <a:ln w="50800">
            <a:solidFill>
              <a:srgbClr val="D4AC4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0" y="260604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600" kern="0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2743200" y="306324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Flagship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743200" y="3611880"/>
            <a:ext cx="6675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$8,500 MXN</a:t>
            </a:r>
            <a:endParaRPr lang="en-US" sz="6400" dirty="0"/>
          </a:p>
        </p:txBody>
      </p:sp>
      <p:sp>
        <p:nvSpPr>
          <p:cNvPr id="10" name="Text 7"/>
          <p:cNvSpPr/>
          <p:nvPr/>
        </p:nvSpPr>
        <p:spPr>
          <a:xfrm>
            <a:off x="2743200" y="470916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aprox. $470 USD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846320" y="5120640"/>
            <a:ext cx="2468880" cy="0"/>
          </a:xfrm>
          <a:prstGeom prst="line">
            <a:avLst/>
          </a:prstGeom>
          <a:noFill/>
          <a:ln w="25400">
            <a:solidFill>
              <a:srgbClr val="D4AC4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743200" y="534924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sesiones  ·  16 horas  ·  1 a 1 online (Zoom / Meet)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2743200" y="571500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final con tus datos incluido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 cuesta NO invertir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783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matemáticas frías: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246888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$15K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594360" y="3520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9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MXN/mes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017520" y="256032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 salarial Junior vs Sr BI en México (LinkedIn Salary 2025).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26480" y="233172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246888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hrs</a:t>
            </a:r>
            <a:endParaRPr lang="en-US" sz="4800" dirty="0"/>
          </a:p>
        </p:txBody>
      </p:sp>
      <p:sp>
        <p:nvSpPr>
          <p:cNvPr id="12" name="Text 9"/>
          <p:cNvSpPr/>
          <p:nvPr/>
        </p:nvSpPr>
        <p:spPr>
          <a:xfrm>
            <a:off x="6263640" y="3520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9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 semana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686800" y="256032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que pierde un analista sin modelado correcto.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429768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94360" y="44348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</a:t>
            </a:r>
            <a:endParaRPr lang="en-US" sz="4800" dirty="0"/>
          </a:p>
        </p:txBody>
      </p:sp>
      <p:sp>
        <p:nvSpPr>
          <p:cNvPr id="16" name="Text 13"/>
          <p:cNvSpPr/>
          <p:nvPr/>
        </p:nvSpPr>
        <p:spPr>
          <a:xfrm>
            <a:off x="594360" y="5486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9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MXN/proy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017520" y="452628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mínima de un freelance BI con un dashboard productivo.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0" y="429768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63640" y="44348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días</a:t>
            </a:r>
            <a:endParaRPr lang="en-US" sz="4800" dirty="0"/>
          </a:p>
        </p:txBody>
      </p:sp>
      <p:sp>
        <p:nvSpPr>
          <p:cNvPr id="20" name="Text 17"/>
          <p:cNvSpPr/>
          <p:nvPr/>
        </p:nvSpPr>
        <p:spPr>
          <a:xfrm>
            <a:off x="6263640" y="5486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9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recuperar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686800" y="452628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promedio para recuperar inversión con 1 freelance pequeño.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del método 2BI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reales (anonimizados) del método aplicado en producción.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15406B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05740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–73%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731520" y="32461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carga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645920" y="3703320"/>
            <a:ext cx="1463040" cy="0"/>
          </a:xfrm>
          <a:prstGeom prst="line">
            <a:avLst/>
          </a:prstGeom>
          <a:noFill/>
          <a:ln w="25400">
            <a:solidFill>
              <a:srgbClr val="D4AC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88620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de ventas que cargaba en 11s ahora carga en 3s. Clave: removeFilters + Calculation Groups.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15406B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205740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+$45K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4526280" y="32461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MXN/mes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40680" y="3703320"/>
            <a:ext cx="1463040" cy="0"/>
          </a:xfrm>
          <a:prstGeom prst="line">
            <a:avLst/>
          </a:prstGeom>
          <a:noFill/>
          <a:ln w="25400">
            <a:solidFill>
              <a:srgbClr val="D4AC4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388620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 junior con curso completado: ascendió a Sr Analyst con bono de retención. 4 meses post-curso.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15406B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05740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hrs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8321040" y="32461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235440" y="3703320"/>
            <a:ext cx="1463040" cy="0"/>
          </a:xfrm>
          <a:prstGeom prst="line">
            <a:avLst/>
          </a:prstGeom>
          <a:noFill/>
          <a:ln w="25400">
            <a:solidFill>
              <a:srgbClr val="D4AC4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0" y="388620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PyME: equipo administrativo recuperó 40 hrs/mes con dataflow + alertas automatizadas.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Tu caso de éxito puede ser el siguiente.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¿Programa Flagship es para ti?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2194560"/>
            <a:ext cx="5532120" cy="4206240"/>
          </a:xfrm>
          <a:prstGeom prst="roundRect">
            <a:avLst>
              <a:gd name="adj" fmla="val 3261"/>
            </a:avLst>
          </a:prstGeom>
          <a:solidFill>
            <a:srgbClr val="E0F4EC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 — si tú...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31520" y="283464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Ya conoces Power BI a nivel básico-intermedio.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338328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Quieres dejar de copiar DAX y entenderlo.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31520" y="393192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Tienes datos reales con los que trabajar.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448056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Buscas ascender, cambiar de trabajo o cobrar freelance.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31520" y="502920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Tienes 4 hrs/semana durante 8 semanas.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557784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Quieres pensar como arquitecto BI.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72200" y="2194560"/>
            <a:ext cx="5532120" cy="4206240"/>
          </a:xfrm>
          <a:prstGeom prst="roundRect">
            <a:avLst>
              <a:gd name="adj" fmla="val 3261"/>
            </a:avLst>
          </a:prstGeom>
          <a:solidFill>
            <a:srgbClr val="FCE4E4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— si tú...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46520" y="283464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Nunca abriste Power BI Desktop.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46520" y="347472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Buscas Power BI Premium, Python, AI agents (Premium).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6520" y="411480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Eres equipo corporativo (VIP).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46520" y="475488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Esperas que el instructor haga el trabajo por ti.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arrancamos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731520" cy="731520"/>
          </a:xfrm>
          <a:prstGeom prst="ellipse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74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554480" y="18288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 el tier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54480" y="22402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Flagship — decisión simple basada en tu objetivo.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554480" y="26974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+ acuerdo firmado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1089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en 1 exhibición (5% descuento) o 2 partes sin recargo. Acuerdo digital con cláusulas claras.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611880"/>
            <a:ext cx="731520" cy="731520"/>
          </a:xfrm>
          <a:prstGeom prst="ellipse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6118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35661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inicial 30 min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39776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Calibramos nivel real y elegimos tu dataset.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480560"/>
            <a:ext cx="731520" cy="731520"/>
          </a:xfrm>
          <a:prstGeom prst="ellipse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480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554480" y="44348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Calendarizamos las sesiones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54480" y="48463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sesiones, mismo horario cada semana.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349240"/>
            <a:ext cx="731520" cy="731520"/>
          </a:xfrm>
          <a:prstGeom prst="ellipse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53492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554480" y="53035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 en menos de 7 días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554480" y="57150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Empezamos. Quick win garantizado el primer día.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371600" y="6126480"/>
            <a:ext cx="9418320" cy="548640"/>
          </a:xfrm>
          <a:prstGeom prst="roundRect">
            <a:avLst>
              <a:gd name="adj" fmla="val 50000"/>
            </a:avLst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12648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con "VAMOS" y arrancamos esta semana.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2BI y no otro curso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228600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8580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 1 con datos reales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8580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genérico. Trabajamos con TUS datos desde el día 1.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97680" y="228600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2628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2628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48056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Hacks de producción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48056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 que no aparece en YouTube ni en Udemy.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092440" y="228600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2104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2104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27532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Mentoría real post-curso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27532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 dejamos solo. Soporte WhatsApp con respuesta &lt; 24 hrs.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02920" y="429768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452628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" y="4526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685800" y="5394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profesional incluido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85800" y="5715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Editor, DAX Studio, .pbip + Git desde día 1.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297680" y="429768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26280" y="452628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526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4480560" y="5394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 DAX documentados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4480560" y="5715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reutilizable que usarás por años.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8092440" y="429768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321040" y="452628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21040" y="4526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</a:t>
            </a:r>
            <a:endParaRPr lang="en-US" sz="2200" dirty="0"/>
          </a:p>
        </p:txBody>
      </p:sp>
      <p:sp>
        <p:nvSpPr>
          <p:cNvPr id="33" name="Text 30"/>
          <p:cNvSpPr/>
          <p:nvPr/>
        </p:nvSpPr>
        <p:spPr>
          <a:xfrm>
            <a:off x="8275320" y="5394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monetización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8275320" y="5715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solo aprendes. Te enseñamos a cobrar lo que vales.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1887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diferencia entre quien usa Power BI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quien lo domina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8 sesiones.</a:t>
            </a:r>
            <a:endParaRPr lang="en-US" sz="5600" dirty="0"/>
          </a:p>
        </p:txBody>
      </p:sp>
      <p:sp>
        <p:nvSpPr>
          <p:cNvPr id="7" name="Shape 5"/>
          <p:cNvSpPr/>
          <p:nvPr/>
        </p:nvSpPr>
        <p:spPr>
          <a:xfrm>
            <a:off x="4114800" y="3931920"/>
            <a:ext cx="3931920" cy="0"/>
          </a:xfrm>
          <a:prstGeom prst="line">
            <a:avLst/>
          </a:prstGeom>
          <a:noFill/>
          <a:ln w="38100">
            <a:solidFill>
              <a:srgbClr val="D4AC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572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Business Intelligence Studio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8640" y="5029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que multiplica tu negocio.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guillermorc44@gmail.com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Flagship  ·  Propuesta válida 7 días  · 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2BI · Business Intelligence Studio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2BI — Programa Flagship</dc:title>
  <dc:subject>PptxGenJS Presentation</dc:subject>
  <dc:creator>2BI</dc:creator>
  <cp:lastModifiedBy>2BI</cp:lastModifiedBy>
  <cp:revision>1</cp:revision>
  <dcterms:created xsi:type="dcterms:W3CDTF">2026-05-08T03:37:42Z</dcterms:created>
  <dcterms:modified xsi:type="dcterms:W3CDTF">2026-05-08T03:37:42Z</dcterms:modified>
</cp:coreProperties>
</file>