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0" y="36576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10652760" y="1828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27080" y="3657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8961120" y="1280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Studio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3774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</a:t>
            </a:r>
            <a:endParaRPr lang="en-US" sz="7600" dirty="0"/>
          </a:p>
        </p:txBody>
      </p:sp>
      <p:sp>
        <p:nvSpPr>
          <p:cNvPr id="10" name="Text 8"/>
          <p:cNvSpPr/>
          <p:nvPr/>
        </p:nvSpPr>
        <p:spPr>
          <a:xfrm>
            <a:off x="731520" y="36576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usuario funcional a Consultor BI en 8 semanas.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2743200" cy="0"/>
          </a:xfrm>
          <a:prstGeom prst="line">
            <a:avLst/>
          </a:prstGeom>
          <a:noFill/>
          <a:ln w="38100">
            <a:solidFill>
              <a:srgbClr val="D4AC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  ·  16 horas  ·  $8,500 MXN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5669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989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  ·  guillermorc44@gmail.com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Power BI instalado.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herramienta no te está pagando lo que debería.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325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reportes tardan más de lo que deberían en cargar y nadie sabe por qué.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274320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99008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990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7040880" y="288036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lunes copias y pegas las mismas medidas DAX, sin entender qué hace CALCULATE.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325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dashboards "se ven bien" pero los directivos los abren una vez y nunca más.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55080" y="417880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55080" y="4178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7040880" y="4069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Sigues exportando a Excel para hacer el "análisis real" — el dashboard no te da respuestas.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325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que dominar Power BI vale dinero — pero los cursos te dejan a medias.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172200" y="5120640"/>
            <a:ext cx="5532120" cy="1051560"/>
          </a:xfrm>
          <a:prstGeom prst="roundRect">
            <a:avLst>
              <a:gd name="adj" fmla="val 8696"/>
            </a:avLst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355080" y="5367528"/>
            <a:ext cx="548640" cy="548640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5508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040880" y="525780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jefe (o tu cliente) espera más de ti, y tú sabes que sí podrías llegar más lejos.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57200" y="6400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Programa Flagship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incómoda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90% de los cursos te enseña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visualizaciones. El 10% que importa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el modelo y en DAX.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10972800" cy="1737360"/>
          </a:xfrm>
          <a:prstGeom prst="roundRect">
            <a:avLst>
              <a:gd name="adj" fmla="val 7895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480560"/>
            <a:ext cx="2560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3474720" y="4617720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reportes lentos en producción tienen el mismo problema raíz: modelo mal diseñado, columnas calculadas innecesarias y bidireccional cuando no se necesita. Nada se arregla cambiando la gráfica.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transformar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programa  →  Después del programa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Reportes lentos sin saber por qué.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DAX que copias de Stack Overflow.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Tabla plana con todo en una hoja.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Dashboards que nadie usa.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 proceso de versionado.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5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Manual: cada lunes refrescas a mano.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Cobras como junior o no cobras.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72200" y="2194560"/>
            <a:ext cx="5532120" cy="4297680"/>
          </a:xfrm>
          <a:prstGeom prst="roundRect">
            <a:avLst>
              <a:gd name="adj" fmla="val 319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400800" y="2880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Reporte &lt; 3s, optimizado con DAX Studio.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3383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DAX que escribes desde cero.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0" y="3886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Star schema con calendario y RLS.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Dashboards ejecutivos que se usan diario.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0080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.pbip + Git: versionado profesional.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40080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Refresh + alertas automatizadas.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5897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Cobras proyectos BI freelance o subes de puesto.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es 2BI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3017520" cy="3017520"/>
          </a:xfrm>
          <a:prstGeom prst="ellipse">
            <a:avLst/>
          </a:prstGeom>
          <a:solidFill>
            <a:srgbClr val="0F1B2D"/>
          </a:solidFill>
          <a:ln w="50800">
            <a:solidFill>
              <a:srgbClr val="D4AC4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0" dirty="0"/>
          </a:p>
        </p:txBody>
      </p:sp>
      <p:sp>
        <p:nvSpPr>
          <p:cNvPr id="7" name="Text 4"/>
          <p:cNvSpPr/>
          <p:nvPr/>
        </p:nvSpPr>
        <p:spPr>
          <a:xfrm>
            <a:off x="2148840" y="2011680"/>
            <a:ext cx="1508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1000" dirty="0"/>
          </a:p>
        </p:txBody>
      </p:sp>
      <p:sp>
        <p:nvSpPr>
          <p:cNvPr id="8" name="Text 5"/>
          <p:cNvSpPr/>
          <p:nvPr/>
        </p:nvSpPr>
        <p:spPr>
          <a:xfrm>
            <a:off x="411480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114800" y="3200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Modelado dimensional y DAX avanzado en producción.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0" y="3657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Query, SQL Server, Firebird, DuckDB, PostgreSQL.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114800" y="41148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Premium, Premium Capacity y Semantic Link.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114800" y="4572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Python (DAX Studio, pandas, Tabular Editor) y AI agents.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114800" y="5029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Power BI Subscriptions, Smart Narrative, orquestación de agentes.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114800" y="54864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Datasets reales &gt; 20M filas en proyectos productivos.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te enseñamos Power BI. Te enseñamos a pensar como un arquitecto BI."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 ·  8 sesiones, 16 horas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online (Zoom / Meet)  ·  8 sesiones, 1 vez por semana, durante 8 semanas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 2026 + Power Query Profesional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52044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Dimensional + Calendario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6364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 — Contextos, CALCULATE, Iteradores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144000" y="224028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81160" y="237744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2377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281160" y="301752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II — Time Intelligence + Calculation Groups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0292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4008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Ejecutiva + UX/UI Profesional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8328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2044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2044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352044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con DAX Studio + Tabular Editor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6364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640080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Service: RLS, Dataflows, Pipelines, REST API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144000" y="4389120"/>
            <a:ext cx="2788920" cy="1965960"/>
          </a:xfrm>
          <a:prstGeom prst="roundRect">
            <a:avLst>
              <a:gd name="adj" fmla="val 4651"/>
            </a:avLst>
          </a:prstGeom>
          <a:solidFill>
            <a:srgbClr val="0F1B2D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81160" y="4526280"/>
            <a:ext cx="548640" cy="54864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81160" y="4526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9281160" y="516636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Service Avanzado + Portafolio + Cierre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50+ hacks que te llevas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Cosas que no salen en YouTube y que se aprenden únicamente en producción.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Groups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grupo reemplaza 30 medidas duplicadas.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16916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66560" y="17647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Parameters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dinámico: efecto wow al CEO.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Date/Time = OFF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30% menos memoria.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060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66560" y="26791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 BPA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0" y="29900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reglas que detectan errores.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Studio + Server Timings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FE o SE en 30 segundos.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766560" y="3593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.pbip + TMDL + Git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39044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al modelo = revisión profesional.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Capacity (Power BI Premium)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Import sin recargas.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4348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44348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766560" y="45079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Calculations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48188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totals sin pelear con DAX.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9728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dinámico con bridge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9728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 sin 50 roles a mano.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534924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766560" y="54223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bien promptado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6766560" y="573328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 a 1ª medida útil en 30 segundos.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final  ·  con tus datos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sesión 4 trabajamos sobre tus datos reales. Sales con un dashboard productivo.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documentado con cardinalidades.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9768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Medidas DAX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48056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Documentadas, optimizadas y reutilizables.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92440" y="228600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Ejecutivo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275320" y="3749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corporativo + bookmarks + drill-through.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68580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Service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8580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RLS, refresh automático, pipeline.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9768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2628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2628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48056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48056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1-pager con arquitectura y decisiones.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4480560"/>
            <a:ext cx="3657600" cy="2011680"/>
          </a:xfrm>
          <a:prstGeom prst="roundRect">
            <a:avLst>
              <a:gd name="adj" fmla="val 6818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21040" y="470916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47091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8275320" y="55778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portafolio LinkedIn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275320" y="5943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Git + post LinkedIn.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recibes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clases. Activos digitales que vas a usar por años.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02920" y="22860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2860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403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4403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0020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 en vivo (1 a 1)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60020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horas de mentoría aplicada con tus datos.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72200" y="22860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22860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46520" y="24403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24403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269480" y="24231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hacks profesionales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269480" y="27889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Documentados, organizados por área.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3718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3718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77240" y="35261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5261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600200" y="35090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.pbit listas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600200" y="38747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schema, KPIs ejecutivos, tema corporativo.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72200" y="33718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3718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46520" y="35261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35261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269480" y="35090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DAX 30 medidas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269480" y="38747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Documentadas con caso de uso y descripción.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4577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02920" y="44577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77240" y="46120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77240" y="46120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600200" y="45948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600200" y="49606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Studio, Tabular Editor, ALM Toolkit, .pbip.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172200" y="445770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172200" y="445770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461200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461200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269480" y="459486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30 días post-curso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7269480" y="496062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WhatsApp + revisión de 1 dashboard.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02920" y="55435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55435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77240" y="56978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7240" y="56978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600200" y="56807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digital firmado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600200" y="60464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LinkedIn.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6172200" y="5543550"/>
            <a:ext cx="5486400" cy="948690"/>
          </a:xfrm>
          <a:prstGeom prst="rect">
            <a:avLst/>
          </a:prstGeom>
          <a:solidFill>
            <a:srgbClr val="F5F7FA"/>
          </a:solidFill>
          <a:ln w="12700">
            <a:solidFill>
              <a:srgbClr val="E0E5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72200" y="5543550"/>
            <a:ext cx="109728" cy="94869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446520" y="5697855"/>
            <a:ext cx="640080" cy="64008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46520" y="569785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800" dirty="0"/>
          </a:p>
        </p:txBody>
      </p:sp>
      <p:sp>
        <p:nvSpPr>
          <p:cNvPr id="52" name="Text 49"/>
          <p:cNvSpPr/>
          <p:nvPr/>
        </p:nvSpPr>
        <p:spPr>
          <a:xfrm>
            <a:off x="7269480" y="568071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 90 días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269480" y="604647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cobrar tu primer proyecto BI.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exclusivos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confirmas el pago en los próximos 7 días, recibes además: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1 — Sesión Bonus de SQL para 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window functions y CTEs aplicados a Power Query y dataflows.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1920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$2,500 MXN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2 — Workshop DAX Patterns Avanzados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reusables: cohort analysis, ABC, RFM, churn — listos para copy/paste.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0" y="3063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$3,000 MXN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3 — Pack 30 dashboards de inspiración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Curados con notas de qué replicar.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$1,500 MXN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120640"/>
            <a:ext cx="11247120" cy="960120"/>
          </a:xfrm>
          <a:prstGeom prst="rect">
            <a:avLst/>
          </a:prstGeom>
          <a:solidFill>
            <a:srgbClr val="15406B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4 — Plantilla de propuesta freelance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577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cobrar tu primer proyecto BI: tarifas, alcance y términos.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5349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$2,000 MXN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total de los bonos: $9,000 MXN  ·  Incluido sin costo si confirmas en 7 días.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31520"/>
            <a:ext cx="10332720" cy="5394960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50800">
            <a:solidFill>
              <a:srgbClr val="D4AC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después de la sesión 2 sientes que esto no es para ti, te devuelvo el 100% del pago.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0" y="4023360"/>
            <a:ext cx="3931920" cy="0"/>
          </a:xfrm>
          <a:prstGeom prst="line">
            <a:avLst/>
          </a:prstGeom>
          <a:noFill/>
          <a:ln w="38100">
            <a:solidFill>
              <a:srgbClr val="D4AC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justificaciones. Sin papeleo. Sin condiciones letra chica.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Asumo el riesgo yo, no tú. Si invertimos en ti, tú confías en mí — y yo confío en mi método.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Más del 90% de nuestros alumnos completan el programa.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inversión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partes sin recargo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43200" y="2377440"/>
            <a:ext cx="6675120" cy="3840480"/>
          </a:xfrm>
          <a:prstGeom prst="roundRect">
            <a:avLst>
              <a:gd name="adj" fmla="val 4762"/>
            </a:avLst>
          </a:prstGeom>
          <a:solidFill>
            <a:srgbClr val="0F1B2D"/>
          </a:solidFill>
          <a:ln w="50800">
            <a:solidFill>
              <a:srgbClr val="D4AC4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0" y="2606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743200" y="30632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743200" y="36118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$8,500 MXN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2743200" y="47091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aprox. $470 USD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846320" y="5120640"/>
            <a:ext cx="246888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3200" y="53492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  ·  16 horas  ·  1 a 1 online (Zoom / Meet)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0" y="5715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con tus datos incluido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cuesta NO invertir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783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frías: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$15K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salarial Junior vs Sr BI en México (LinkedIn Salary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33172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24688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hrs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62636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semana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686800" y="256032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que pierde un analista sin modelado correcto.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</a:t>
            </a:r>
            <a:endParaRPr lang="en-US" sz="4800" dirty="0"/>
          </a:p>
        </p:txBody>
      </p:sp>
      <p:sp>
        <p:nvSpPr>
          <p:cNvPr id="16" name="Text 13"/>
          <p:cNvSpPr/>
          <p:nvPr/>
        </p:nvSpPr>
        <p:spPr>
          <a:xfrm>
            <a:off x="59436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MXN/proy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01752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mínima de un freelance BI con un dashboard productivo.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297680"/>
            <a:ext cx="5486400" cy="178308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4434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</a:t>
            </a:r>
            <a:endParaRPr lang="en-US" sz="4800" dirty="0"/>
          </a:p>
        </p:txBody>
      </p:sp>
      <p:sp>
        <p:nvSpPr>
          <p:cNvPr id="20" name="Text 17"/>
          <p:cNvSpPr/>
          <p:nvPr/>
        </p:nvSpPr>
        <p:spPr>
          <a:xfrm>
            <a:off x="6263640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92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recuperar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686800" y="45262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promedio para recuperar inversión con 1 freelance pequeño.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método 2BI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 (anonimizados) del método aplicado en producción.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–73%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carga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45920" y="3703320"/>
            <a:ext cx="146304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ventas que cargaba en 11s ahora carga en 3s. Clave: removeFilters + Calculation Groups.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+$45K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52628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MXN/mes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40680" y="3703320"/>
            <a:ext cx="146304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junior con curso completado: ascendió a Sr Analyst con bono de retención. 4 meses post-curso.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57600" cy="4297680"/>
          </a:xfrm>
          <a:prstGeom prst="roundRect">
            <a:avLst>
              <a:gd name="adj" fmla="val 3750"/>
            </a:avLst>
          </a:prstGeom>
          <a:solidFill>
            <a:srgbClr val="15406B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hrs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8321040" y="3246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35440" y="3703320"/>
            <a:ext cx="1463040" cy="0"/>
          </a:xfrm>
          <a:prstGeom prst="line">
            <a:avLst/>
          </a:prstGeom>
          <a:noFill/>
          <a:ln w="25400">
            <a:solidFill>
              <a:srgbClr val="D4AC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388620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PyME: equipo administrativo recuperó 40 hrs/mes con dataflow + alertas automatizadas.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Tu caso de éxito puede ser el siguiente.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¿Programa Flagship es para ti?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E0F4EC"/>
          </a:solidFill>
          <a:ln w="12700">
            <a:solidFill>
              <a:srgbClr val="2F6F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2F6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— si tú...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Ya conoces Power BI a nivel básico-intermedio.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dejar de copiar DAX y entenderlo.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datos reales con los que trabajar.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448056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Buscas ascender, cambiar de trabajo o cobrar freelance.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502920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Tienes 4 hrs/semana durante 8 semanas.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557784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Quieres pensar como arquitecto BI.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2194560"/>
            <a:ext cx="5532120" cy="4206240"/>
          </a:xfrm>
          <a:prstGeom prst="roundRect">
            <a:avLst>
              <a:gd name="adj" fmla="val 3261"/>
            </a:avLst>
          </a:prstGeom>
          <a:solidFill>
            <a:srgbClr val="FCE4E4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si tú...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46520" y="283464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Nunca abriste Power BI Desktop.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347472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Buscas Power BI Premium, Python, AI agents (Premium).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11480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Eres equipo corporativo (VIP).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46520" y="4754880"/>
            <a:ext cx="5074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Esperas que el instructor haga el trabajo por ti.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arrancamos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el tier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 — decisión simple basada en tu objetivo.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+ acuerdo firmado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en 1 exhibición (5% descuento) o 2 partes sin recargo. Acuerdo digital con cláusulas claras.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11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5661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30 min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9776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Calibramos nivel real y elegimos tu dataset.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80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4348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Calendarizamos las sesiones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8463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sesiones, mismo horario cada semana.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731520" cy="731520"/>
          </a:xfrm>
          <a:prstGeom prst="ellipse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554480" y="5303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en menos de 7 días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54480" y="57150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Empezamos. Quick win garantizado el primer día.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371600" y="6126480"/>
            <a:ext cx="9418320" cy="548640"/>
          </a:xfrm>
          <a:prstGeom prst="roundRect">
            <a:avLst>
              <a:gd name="adj" fmla="val 50000"/>
            </a:avLst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12648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con "VAMOS" y arrancamos esta semana.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pic>
        <p:nvPicPr>
          <p:cNvPr id="3" name="Image 0" descr="/sessions/amazing-keen-dijkstra/mnt/outputs/logo_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0040"/>
            <a:ext cx="1280160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143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2BI y no otro curso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1 con datos reales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genérico. Trabajamos con TUS datos desde el día 1.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2628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2628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48056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de producción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8056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que no aparece en YouTube ni en Udemy.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092440" y="228600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251460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1040" y="25146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275320" y="3383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Mentoría real post-curso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7532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dejamos solo. Soporte WhatsApp con respuesta &lt; 24 hrs.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0292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profesional incluido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8580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Editor, DAX Studio, .pbip + Git desde día 1.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9768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2628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48056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DAX documentados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48056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reutilizable que usarás por años.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092440" y="42976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F5F7FA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21040" y="4526280"/>
            <a:ext cx="777240" cy="777240"/>
          </a:xfrm>
          <a:prstGeom prst="ellipse">
            <a:avLst/>
          </a:prstGeom>
          <a:solidFill>
            <a:srgbClr val="0F1B2D"/>
          </a:solidFill>
          <a:ln w="25400">
            <a:solidFill>
              <a:srgbClr val="D4AC4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1040" y="4526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275320" y="53949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monetización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75320" y="5715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solo aprendes. Te enseñamos a cobrar lo que vales.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AC4C"/>
          </a:solidFill>
          <a:ln w="12700">
            <a:solidFill>
              <a:srgbClr val="D4AC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entre quien usa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quien lo domina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8 sesiones.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3931920" cy="0"/>
          </a:xfrm>
          <a:prstGeom prst="line">
            <a:avLst/>
          </a:prstGeom>
          <a:noFill/>
          <a:ln w="38100">
            <a:solidFill>
              <a:srgbClr val="D4AC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2BI  ·  Business Intelligence Studio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que multiplica tu negocio.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guillermorc44@gmail.com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Flagship  ·  Propuesta válida 7 días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2BI · Business Intelligence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2BI — Programa Flagship</dc:title>
  <dc:subject>PptxGenJS Presentation</dc:subject>
  <dc:creator>2BI</dc:creator>
  <cp:lastModifiedBy>2BI</cp:lastModifiedBy>
  <cp:revision>1</cp:revision>
  <dcterms:created xsi:type="dcterms:W3CDTF">2026-05-08T04:07:07Z</dcterms:created>
  <dcterms:modified xsi:type="dcterms:W3CDTF">2026-05-08T04:07:07Z</dcterms:modified>
</cp:coreProperties>
</file>