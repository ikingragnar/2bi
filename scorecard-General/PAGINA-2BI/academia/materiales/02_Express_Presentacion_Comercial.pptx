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0" y="36576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10652760" y="1828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27080" y="36576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8961120" y="12801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Intelligence Studio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37744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Bootcamp Express</a:t>
            </a:r>
            <a:endParaRPr lang="en-US" sz="7600" dirty="0"/>
          </a:p>
        </p:txBody>
      </p:sp>
      <p:sp>
        <p:nvSpPr>
          <p:cNvPr id="10" name="Text 8"/>
          <p:cNvSpPr/>
          <p:nvPr/>
        </p:nvSpPr>
        <p:spPr>
          <a:xfrm>
            <a:off x="731520" y="36576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esencial de Power BI bien hecho, en un fin de semana.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31520" y="4434840"/>
            <a:ext cx="2743200" cy="0"/>
          </a:xfrm>
          <a:prstGeom prst="line">
            <a:avLst/>
          </a:prstGeom>
          <a:noFill/>
          <a:ln w="38100">
            <a:solidFill>
              <a:srgbClr val="00A8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617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sesiones  ·  8 horas  ·  $4,500 MXN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56692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Business Intelligence Studio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5989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que multiplica tu negocio.  ·  guillermorc44@gmail.com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 Power BI instalado.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178308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la herramienta no te está pagando lo que debería.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274320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299008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990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1325880" y="288036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reportes tardan más de lo que deberían en cargar y nadie sabe por qué.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274320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55080" y="299008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55080" y="2990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7040880" y="288036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lunes copias y pegas las mismas medidas DAX, sin entender qué hace CALCULATE.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393192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0080" y="417880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4178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1325880" y="4069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dashboards "se ven bien" pero los directivos los abren una vez y nunca más.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72200" y="393192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55080" y="417880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55080" y="4178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7040880" y="4069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Sigues exportando a Excel para hacer el "análisis real" — el dashboard no te da respuestas.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57200" y="512064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" y="536752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53675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25" name="Text 22"/>
          <p:cNvSpPr/>
          <p:nvPr/>
        </p:nvSpPr>
        <p:spPr>
          <a:xfrm>
            <a:off x="1325880" y="525780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que dominar Power BI vale dinero — pero los cursos te dejan a medias.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172200" y="512064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355080" y="536752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355080" y="53675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29" name="Text 26"/>
          <p:cNvSpPr/>
          <p:nvPr/>
        </p:nvSpPr>
        <p:spPr>
          <a:xfrm>
            <a:off x="7040880" y="525780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jefe (o tu cliente) espera más de ti, y tú sabes que sí podrías llegar más lejos.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5720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Bootcamp Express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verdad incómoda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972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90% de los cursos te enseña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visualizaciones. El 10% que importa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en el modelo y en DAX.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10972800" cy="1737360"/>
          </a:xfrm>
          <a:prstGeom prst="roundRect">
            <a:avLst>
              <a:gd name="adj" fmla="val 7895"/>
            </a:avLst>
          </a:prstGeom>
          <a:solidFill>
            <a:srgbClr val="15406B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480560"/>
            <a:ext cx="2560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3474720" y="4617720"/>
            <a:ext cx="7955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reportes lentos en producción tienen el mismo problema raíz: modelo mal diseñado, columnas calculadas innecesarias y bidireccional cuando no se necesita. Nada se arregla cambiando la gráfica.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vas a transformar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del programa  →  Después del programa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94560"/>
            <a:ext cx="5532120" cy="4297680"/>
          </a:xfrm>
          <a:prstGeom prst="roundRect">
            <a:avLst>
              <a:gd name="adj" fmla="val 3191"/>
            </a:avLst>
          </a:prstGeom>
          <a:solidFill>
            <a:srgbClr val="FCE4E4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85800" y="28803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Modelas con 1 sola tabla plana.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3383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Copias DAX sin entender CALCULATE.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" y="3886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Time intelligence te aterra.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85800" y="4389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Tema default Power BI.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4892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Reportes en Desktop, sin publicar.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172200" y="2194560"/>
            <a:ext cx="5532120" cy="4297680"/>
          </a:xfrm>
          <a:prstGeom prst="roundRect">
            <a:avLst>
              <a:gd name="adj" fmla="val 3191"/>
            </a:avLst>
          </a:prstGeom>
          <a:solidFill>
            <a:srgbClr val="E0F4EC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508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0" y="28803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Star schema correcto desde tabla plana.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0" y="3383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Escribes DAX con criterio (CALCULATE, iteradores).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00800" y="3886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YTD, MoM, YoY al cierre del fin de semana.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Tema corporativo profesional.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00800" y="4892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Dashboard publicado en Power BI Service.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es 2BI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2011680"/>
            <a:ext cx="3017520" cy="3017520"/>
          </a:xfrm>
          <a:prstGeom prst="ellipse">
            <a:avLst/>
          </a:prstGeom>
          <a:solidFill>
            <a:srgbClr val="0F1B2D"/>
          </a:solidFill>
          <a:ln w="50800">
            <a:solidFill>
              <a:srgbClr val="00A8A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011680"/>
            <a:ext cx="1508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0" dirty="0"/>
          </a:p>
        </p:txBody>
      </p:sp>
      <p:sp>
        <p:nvSpPr>
          <p:cNvPr id="7" name="Text 4"/>
          <p:cNvSpPr/>
          <p:nvPr/>
        </p:nvSpPr>
        <p:spPr>
          <a:xfrm>
            <a:off x="2148840" y="2011680"/>
            <a:ext cx="1508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</a:t>
            </a:r>
            <a:endParaRPr lang="en-US" sz="11000" dirty="0"/>
          </a:p>
        </p:txBody>
      </p:sp>
      <p:sp>
        <p:nvSpPr>
          <p:cNvPr id="8" name="Text 5"/>
          <p:cNvSpPr/>
          <p:nvPr/>
        </p:nvSpPr>
        <p:spPr>
          <a:xfrm>
            <a:off x="4114800" y="2103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Business Intelligence Studio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4114800" y="26060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que multiplica tu negocio.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114800" y="32004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Modelado dimensional y DAX avanzado en producción.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114800" y="3657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Power Query, SQL Server, Firebird, DuckDB, PostgreSQL.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114800" y="41148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Microsoft Fabric, Direct Lake y Semantic Link.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114800" y="4572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Python (sempy, pandas, scikit-learn) y AI agents.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114800" y="5029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n8n, Anthropic Claude, orquestación de agentes.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114800" y="54864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Datasets reales &gt; 20M filas en proyectos productivos.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57200" y="5989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te enseñamos Power BI. Te enseñamos a pensar como un arquitecto BI."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programa  ·  4 sesiones, 8 horas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 1 online (Zoom / Meet)  ·  Bootcamp en 2 fines de semana (sábado y domingo, 4 sesiones de 2 hrs)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02920" y="2240280"/>
            <a:ext cx="2788920" cy="4114800"/>
          </a:xfrm>
          <a:prstGeom prst="roundRect">
            <a:avLst>
              <a:gd name="adj" fmla="val 3279"/>
            </a:avLst>
          </a:prstGeom>
          <a:solidFill>
            <a:srgbClr val="0F1B2D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2377440"/>
            <a:ext cx="548640" cy="548640"/>
          </a:xfrm>
          <a:prstGeom prst="ellipse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40080" y="3017520"/>
            <a:ext cx="2514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Query Pro + Modelado en Estrella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83280" y="2240280"/>
            <a:ext cx="2788920" cy="4114800"/>
          </a:xfrm>
          <a:prstGeom prst="roundRect">
            <a:avLst>
              <a:gd name="adj" fmla="val 3279"/>
            </a:avLst>
          </a:prstGeom>
          <a:solidFill>
            <a:srgbClr val="0F1B2D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20440" y="2377440"/>
            <a:ext cx="548640" cy="548640"/>
          </a:xfrm>
          <a:prstGeom prst="ellipse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2044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3520440" y="3017520"/>
            <a:ext cx="2514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I — CALCULATE, Contextos e Iteradores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63640" y="2240280"/>
            <a:ext cx="2788920" cy="4114800"/>
          </a:xfrm>
          <a:prstGeom prst="roundRect">
            <a:avLst>
              <a:gd name="adj" fmla="val 3279"/>
            </a:avLst>
          </a:prstGeom>
          <a:solidFill>
            <a:srgbClr val="0F1B2D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00800" y="2377440"/>
            <a:ext cx="548640" cy="548640"/>
          </a:xfrm>
          <a:prstGeom prst="ellipse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400800" y="3017520"/>
            <a:ext cx="2514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II — Time Intelligence + Comparativos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144000" y="2240280"/>
            <a:ext cx="2788920" cy="4114800"/>
          </a:xfrm>
          <a:prstGeom prst="roundRect">
            <a:avLst>
              <a:gd name="adj" fmla="val 3279"/>
            </a:avLst>
          </a:prstGeom>
          <a:solidFill>
            <a:srgbClr val="0F1B2D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281160" y="2377440"/>
            <a:ext cx="548640" cy="548640"/>
          </a:xfrm>
          <a:prstGeom prst="ellipse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8116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9281160" y="3017520"/>
            <a:ext cx="2514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Ejecutivo + Publicación + Portafolio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hacks que te llevas a casa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Cosas que no salen en YouTube y que se aprenden únicamente en producción.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" y="17647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Date/Time = OFF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20756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30% menos memoria sin tocar nada más.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6916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09360" y="16916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66560" y="17647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+ RETURN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66560" y="20756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Legibilidad y a veces performance. Siempre.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6060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6060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97280" y="26791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DIVIDE() vs /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29900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División por cero gratis.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26060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26060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766560" y="26791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SELECTEDVALUE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766560" y="29900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Adiós al IF(HASONEVALUE...).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5204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204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97280" y="35935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TOTALYTD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39044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intelligence en una línea.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35204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35204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766560" y="35935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JSON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766560" y="39044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uses default Power BI en producción.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44348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4348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097280" y="45079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REMOVEFILTERS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97280" y="48188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explícito que ALL.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17920" y="44348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09360" y="44348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6766560" y="45079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Plantillas .pbit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766560" y="48188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Reutilizables en cualquier proyecto.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53492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53492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097280" y="54223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Query staging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97280" y="57332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 load = modelo limpio.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217920" y="53492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09360" y="53492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766560" y="54223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tabla calendario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766560" y="57332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esto, time intelligence rompe.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final  ·  con tus datos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con un dashboard publicado en Power BI Service.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8580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Dimensional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85800" y="3749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documentado con cardinalidades.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297680" y="228600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2628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2628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48056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Medidas DAX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480560" y="3749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Documentadas, optimizadas y reutilizables.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092440" y="228600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32104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104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27532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Ejecutivo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275320" y="3749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corporativo + bookmarks + drill-through.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448056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31520" y="470916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1520" y="47091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685800" y="5577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en Service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85800" y="5943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básico con refresh.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297680" y="448056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26280" y="470916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26280" y="47091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4480560" y="5577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4480560" y="5943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1-pager con arquitectura y decisiones.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092440" y="448056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321040" y="470916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21040" y="47091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8275320" y="5577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portafolio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8275320" y="5943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dashboard demo publicable.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recibes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solo clases. Activos digitales que vas a usar por años.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5486400" cy="1310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2286000"/>
            <a:ext cx="109728" cy="131064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62128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621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600200" y="24231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sesiones intensivas en vivo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600200" y="27889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horas de mentoría 1 a 1.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72200" y="2286000"/>
            <a:ext cx="5486400" cy="1310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172200" y="2286000"/>
            <a:ext cx="109728" cy="131064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46520" y="262128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2621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7269480" y="24231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hacks profesionales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269480" y="27889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Documentados, organizados por área.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3733800"/>
            <a:ext cx="5486400" cy="1310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2920" y="3733800"/>
            <a:ext cx="109728" cy="131064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77240" y="406908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77240" y="4069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600200" y="38709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plantilla .pbit + 10 medidas DAX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600200" y="42367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Reusables en cualquier proyecto.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172200" y="3733800"/>
            <a:ext cx="5486400" cy="1310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172200" y="3733800"/>
            <a:ext cx="109728" cy="131064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446520" y="406908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4069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7269480" y="38709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Cheat Sheet DAX (PDF)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269480" y="42367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30 patrones más usados en producción.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02920" y="5181600"/>
            <a:ext cx="5486400" cy="1310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02920" y="5181600"/>
            <a:ext cx="109728" cy="131064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77240" y="551688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77240" y="55168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600200" y="53187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WhatsApp 7 días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600200" y="56845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Resolvemos dudas inmediatas post-curso.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172200" y="5181600"/>
            <a:ext cx="5486400" cy="1310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172200" y="5181600"/>
            <a:ext cx="109728" cy="131064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446520" y="551688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46520" y="55168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269480" y="53187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digital firmado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7269480" y="56845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LinkedIn.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vs Estándar  ·  Para que decidas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tier Express te da los fundamentos. Si quieres el dominio completo, considera el Estándar.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5486400" cy="4572000"/>
          </a:xfrm>
          <a:prstGeom prst="roundRect">
            <a:avLst>
              <a:gd name="adj" fmla="val 3000"/>
            </a:avLst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0116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 ·  $4,500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4 sesiones (8 hrs)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20 hacks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10 medidas DAX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9776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Cheat Sheet PDF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3891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Soporte 7 días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800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Certificado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1737360"/>
            <a:ext cx="5486400" cy="4572000"/>
          </a:xfrm>
          <a:prstGeom prst="roundRect">
            <a:avLst>
              <a:gd name="adj" fmla="val 3000"/>
            </a:avLst>
          </a:prstGeom>
          <a:solidFill>
            <a:srgbClr val="15406B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20116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 ·  $8,500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92240" y="27432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8 sesiones (16 hrs)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92240" y="31546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50+ hacks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92240" y="35661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30 medidas DAX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39776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Calculation Groups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2240" y="43891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Optimización DAX Studio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92240" y="4800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Power BI Service + RLS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92240" y="5212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Mentoría 30 días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2240" y="56235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4 bonos extras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731520"/>
            <a:ext cx="10332720" cy="539496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50800">
            <a:solidFill>
              <a:srgbClr val="00A8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0058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800" kern="0" dirty="0">
                <a:solidFill>
                  <a:srgbClr val="00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554480"/>
            <a:ext cx="10332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después de la sesión 1 sientes que no es para ti, devolución del 100%.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0" y="4023360"/>
            <a:ext cx="3931920" cy="0"/>
          </a:xfrm>
          <a:prstGeom prst="line">
            <a:avLst/>
          </a:prstGeom>
          <a:noFill/>
          <a:ln w="38100">
            <a:solidFill>
              <a:srgbClr val="00A8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justificaciones. Sin papeleo. Sin condiciones letra chica.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475488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Asumo el riesgo yo, no tú. Si invertimos en ti, tú confías en mí — y yo confío en mi método.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55778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Más del 90% de nuestros alumnos completan el programa.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inversión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en 1 exhibición (5% descuento) o 2 quincenas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2743200" y="2377440"/>
            <a:ext cx="6675120" cy="3840480"/>
          </a:xfrm>
          <a:prstGeom prst="roundRect">
            <a:avLst>
              <a:gd name="adj" fmla="val 4762"/>
            </a:avLst>
          </a:prstGeom>
          <a:solidFill>
            <a:srgbClr val="0F1B2D"/>
          </a:solidFill>
          <a:ln w="50800">
            <a:solidFill>
              <a:srgbClr val="00A8A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0" y="26060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600" kern="0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2743200" y="30632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Bootcamp Express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743200" y="3611880"/>
            <a:ext cx="6675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$4,500 MXN</a:t>
            </a:r>
            <a:endParaRPr lang="en-US" sz="6400" dirty="0"/>
          </a:p>
        </p:txBody>
      </p:sp>
      <p:sp>
        <p:nvSpPr>
          <p:cNvPr id="10" name="Text 7"/>
          <p:cNvSpPr/>
          <p:nvPr/>
        </p:nvSpPr>
        <p:spPr>
          <a:xfrm>
            <a:off x="2743200" y="470916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aprox. $250 USD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846320" y="5120640"/>
            <a:ext cx="2468880" cy="0"/>
          </a:xfrm>
          <a:prstGeom prst="line">
            <a:avLst/>
          </a:prstGeom>
          <a:noFill/>
          <a:ln w="25400">
            <a:solidFill>
              <a:srgbClr val="00A8A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43200" y="534924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sesiones  ·  8 horas  ·  1 a 1 online (Zoom / Meet)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2743200" y="571500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Bootcamp intensivo de fundamentos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 cuesta NO invertir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783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matemáticas frías: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246888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hrs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59436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017520" y="256032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que pierdes refrescando reportes a mano y exportando a Excel.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26480" y="233172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246888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</a:t>
            </a:r>
            <a:endParaRPr lang="en-US" sz="4800" dirty="0"/>
          </a:p>
        </p:txBody>
      </p:sp>
      <p:sp>
        <p:nvSpPr>
          <p:cNvPr id="12" name="Text 9"/>
          <p:cNvSpPr/>
          <p:nvPr/>
        </p:nvSpPr>
        <p:spPr>
          <a:xfrm>
            <a:off x="626364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686800" y="256032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mínima de un freelance BI por un dashboard productivo.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429768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94360" y="44348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días</a:t>
            </a:r>
            <a:endParaRPr lang="en-US" sz="4800" dirty="0"/>
          </a:p>
        </p:txBody>
      </p:sp>
      <p:sp>
        <p:nvSpPr>
          <p:cNvPr id="16" name="Text 13"/>
          <p:cNvSpPr/>
          <p:nvPr/>
        </p:nvSpPr>
        <p:spPr>
          <a:xfrm>
            <a:off x="594360" y="5486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recuperar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017520" y="452628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promedio para recuperar la inversión con un solo proyecto freelance.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0" y="429768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44348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5×</a:t>
            </a:r>
            <a:endParaRPr lang="en-US" sz="4800" dirty="0"/>
          </a:p>
        </p:txBody>
      </p:sp>
      <p:sp>
        <p:nvSpPr>
          <p:cNvPr id="20" name="Text 17"/>
          <p:cNvSpPr/>
          <p:nvPr/>
        </p:nvSpPr>
        <p:spPr>
          <a:xfrm>
            <a:off x="6263640" y="5486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inversión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686800" y="452628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Ahorro de tiempo + valor en portafolio LinkedIn al cierre del bootcamp.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del método 2BI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reales (anonimizados) del método aplicado en producción.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5406B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0574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–73%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731520" y="3246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carga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645920" y="3703320"/>
            <a:ext cx="1463040" cy="0"/>
          </a:xfrm>
          <a:prstGeom prst="line">
            <a:avLst/>
          </a:prstGeom>
          <a:noFill/>
          <a:ln w="25400">
            <a:solidFill>
              <a:srgbClr val="00A8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88620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de ventas que cargaba en 11s ahora carga en 3s. Clave: removeFilters + Calculation Groups.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5406B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20574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+$45K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4526280" y="3246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MXN/mes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40680" y="3703320"/>
            <a:ext cx="1463040" cy="0"/>
          </a:xfrm>
          <a:prstGeom prst="line">
            <a:avLst/>
          </a:prstGeom>
          <a:noFill/>
          <a:ln w="25400">
            <a:solidFill>
              <a:srgbClr val="00A8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388620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junior con curso completado: ascendió a Sr Analyst con bono de retención. 4 meses post-curso.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5406B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0574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hrs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8321040" y="3246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235440" y="3703320"/>
            <a:ext cx="1463040" cy="0"/>
          </a:xfrm>
          <a:prstGeom prst="line">
            <a:avLst/>
          </a:prstGeom>
          <a:noFill/>
          <a:ln w="25400">
            <a:solidFill>
              <a:srgbClr val="00A8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0" y="388620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PyME: equipo administrativo recuperó 40 hrs/mes con dataflow + alertas automatizadas.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Tu caso de éxito puede ser el siguiente.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¿Bootcamp Express es para ti?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2194560"/>
            <a:ext cx="5532120" cy="4206240"/>
          </a:xfrm>
          <a:prstGeom prst="roundRect">
            <a:avLst>
              <a:gd name="adj" fmla="val 3261"/>
            </a:avLst>
          </a:prstGeom>
          <a:solidFill>
            <a:srgbClr val="E0F4EC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 — si tú...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283464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Tienes nivel principiante-básico de Power BI.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338328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Necesitas dominar fundamentos rápido.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Prefieres bootcamp intensivo a curso largo.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448056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Quieres tu primera plantilla productiva.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31520" y="502920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Buscas la inversión más accesible para empezar.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72200" y="2194560"/>
            <a:ext cx="5532120" cy="4206240"/>
          </a:xfrm>
          <a:prstGeom prst="roundRect">
            <a:avLst>
              <a:gd name="adj" fmla="val 3261"/>
            </a:avLst>
          </a:prstGeom>
          <a:solidFill>
            <a:srgbClr val="FCE4E4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— si tú...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446520" y="283464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has abierto Power BI ni una vez.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46520" y="347472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Buscas dominio completo (necesitas Estándar).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46520" y="411480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Necesitas RLS, Pipelines, Fabric (Estándar/Premium).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6520" y="475488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Eres equipo corporativo (necesitas VIP).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arrancamos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731520" cy="731520"/>
          </a:xfrm>
          <a:prstGeom prst="ellipse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74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554480" y="18288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el tier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22402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Bootcamp Express — decisión simple basada en tu objetivo.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554480" y="26974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+ acuerdo firmado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1089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en 1 exhibición (5% descuento) o 2 quincenas. Acuerdo digital con cláusulas claras.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611880"/>
            <a:ext cx="731520" cy="731520"/>
          </a:xfrm>
          <a:prstGeom prst="ellipse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611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5661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inicial 30 min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39776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Calibramos nivel real y elegimos tu dataset.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480560"/>
            <a:ext cx="731520" cy="731520"/>
          </a:xfrm>
          <a:prstGeom prst="ellipse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480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554480" y="44348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Calendarizamos las sesiones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54480" y="48463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sesiones, mismo horario cada semana.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349240"/>
            <a:ext cx="731520" cy="731520"/>
          </a:xfrm>
          <a:prstGeom prst="ellipse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5349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554480" y="53035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 en menos de 7 días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54480" y="57150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Empezamos. Quick win garantizado el primer día.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371600" y="6126480"/>
            <a:ext cx="9418320" cy="548640"/>
          </a:xfrm>
          <a:prstGeom prst="roundRect">
            <a:avLst>
              <a:gd name="adj" fmla="val 50000"/>
            </a:avLst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12648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con "VAMOS" y arrancamos esta semana.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2BI y no otro curso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228600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8580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 1 con datos reales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8580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genérico. Trabajamos con TUS datos desde el día 1.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97680" y="228600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2628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2628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48056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Hacks de producción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48056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que no aparece en YouTube ni en Udemy.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092440" y="228600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2104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2104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27532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Mentoría real post-curso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27532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 dejamos solo. Soporte WhatsApp con respuesta &lt; 24 hrs.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02920" y="429768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452628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" y="4526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685800" y="5394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profesional incluido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85800" y="5715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Editor, DAX Studio, .pbip + Git desde día 1.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297680" y="429768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26280" y="452628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526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4480560" y="5394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DAX documentados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4480560" y="5715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reutilizable que usarás por años.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8092440" y="429768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321040" y="452628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00A8A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21040" y="4526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8275320" y="5394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monetización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8275320" y="5715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solo aprendes. Te enseñamos a cobrar lo que vales.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A8A8"/>
          </a:solidFill>
          <a:ln w="12700">
            <a:solidFill>
              <a:srgbClr val="00A8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1887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entre quien usa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quien lo domina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4 sesiones.</a:t>
            </a:r>
            <a:endParaRPr lang="en-US" sz="5600" dirty="0"/>
          </a:p>
        </p:txBody>
      </p:sp>
      <p:sp>
        <p:nvSpPr>
          <p:cNvPr id="7" name="Shape 5"/>
          <p:cNvSpPr/>
          <p:nvPr/>
        </p:nvSpPr>
        <p:spPr>
          <a:xfrm>
            <a:off x="4114800" y="3931920"/>
            <a:ext cx="3931920" cy="0"/>
          </a:xfrm>
          <a:prstGeom prst="line">
            <a:avLst/>
          </a:prstGeom>
          <a:noFill/>
          <a:ln w="38100">
            <a:solidFill>
              <a:srgbClr val="00A8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Business Intelligence Studio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que multiplica tu negocio.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guillermorc44@gmail.com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Bootcamp Express  ·  Propuesta válida 7 días  · 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2BI · Business Intelligence Studio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2BI — Bootcamp Express</dc:title>
  <dc:subject>PptxGenJS Presentation</dc:subject>
  <dc:creator>2BI</dc:creator>
  <cp:lastModifiedBy>2BI</cp:lastModifiedBy>
  <cp:revision>1</cp:revision>
  <dcterms:created xsi:type="dcterms:W3CDTF">2026-05-07T20:05:20Z</dcterms:created>
  <dcterms:modified xsi:type="dcterms:W3CDTF">2026-05-07T20:05:20Z</dcterms:modified>
</cp:coreProperties>
</file>