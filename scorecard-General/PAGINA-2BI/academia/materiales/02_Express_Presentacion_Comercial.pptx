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0" y="36576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10652760" y="1828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27080" y="36576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8961120" y="12801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 Studio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37744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 Express</a:t>
            </a:r>
            <a:endParaRPr lang="en-US" sz="7600" dirty="0"/>
          </a:p>
        </p:txBody>
      </p:sp>
      <p:sp>
        <p:nvSpPr>
          <p:cNvPr id="10" name="Text 8"/>
          <p:cNvSpPr/>
          <p:nvPr/>
        </p:nvSpPr>
        <p:spPr>
          <a:xfrm>
            <a:off x="731520" y="3657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esencial de Power BI bien hecho, en un fin de semana.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31520" y="4434840"/>
            <a:ext cx="2743200" cy="0"/>
          </a:xfrm>
          <a:prstGeom prst="line">
            <a:avLst/>
          </a:prstGeom>
          <a:noFill/>
          <a:ln w="38100">
            <a:solidFill>
              <a:srgbClr val="00A8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sesiones  ·  8 horas  ·  $4,500 MXN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5669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989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  ·  guillermorc44@gmail.com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Power BI instalado.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herramienta no te está pagando lo que debería.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325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reportes tardan más de lo que deberían en cargar y nadie sabe por qué.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7040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lunes copias y pegas las mismas medidas DAX, sin entender qué hace CALCULATE.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325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dashboards "se ven bien" pero los directivos los abren una vez y nunca más.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72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55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55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7040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Sigues exportando a Excel para hacer el "análisis real" — el dashboard no te da respuestas.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1325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que dominar Power BI vale dinero — pero los cursos te dejan a medias.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72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55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55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7040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jefe (o tu cliente) espera más de ti, y tú sabes que sí podrías llegar más lejos.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5720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Bootcamp Express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verdad incómoda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90% de los cursos te enseña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visualizaciones. El 10% que importa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en el modelo y en DAX.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10972800" cy="1737360"/>
          </a:xfrm>
          <a:prstGeom prst="roundRect">
            <a:avLst>
              <a:gd name="adj" fmla="val 7895"/>
            </a:avLst>
          </a:prstGeom>
          <a:solidFill>
            <a:srgbClr val="15406B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480560"/>
            <a:ext cx="2560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3474720" y="4617720"/>
            <a:ext cx="7955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reportes lentos en producción tienen el mismo problema raíz: modelo mal diseñado, columnas calculadas innecesarias y bidireccional cuando no se necesita. Nada se arregla cambiando la gráfica.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vas a transformar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programa  →  Después del programa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Modelas con 1 sola tabla plana.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Copias DAX sin entender CALCULATE.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Time intelligence te aterra.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Tema default Power BI.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Reportes en Desktop, sin publicar.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172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Star schema correcto desde tabla plana.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Escribes DAX con criterio (CALCULATE, iteradores).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YTD, MoM, YoY al cierre del fin de semana.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Tema corporativo profesional.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Dashboard publicado en Power BI Service.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es 2BI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011680"/>
            <a:ext cx="3017520" cy="3017520"/>
          </a:xfrm>
          <a:prstGeom prst="ellipse">
            <a:avLst/>
          </a:prstGeom>
          <a:solidFill>
            <a:srgbClr val="0F1B2D"/>
          </a:solidFill>
          <a:ln w="50800">
            <a:solidFill>
              <a:srgbClr val="00A8A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0" dirty="0"/>
          </a:p>
        </p:txBody>
      </p:sp>
      <p:sp>
        <p:nvSpPr>
          <p:cNvPr id="7" name="Text 4"/>
          <p:cNvSpPr/>
          <p:nvPr/>
        </p:nvSpPr>
        <p:spPr>
          <a:xfrm>
            <a:off x="214884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1000" dirty="0"/>
          </a:p>
        </p:txBody>
      </p:sp>
      <p:sp>
        <p:nvSpPr>
          <p:cNvPr id="8" name="Text 5"/>
          <p:cNvSpPr/>
          <p:nvPr/>
        </p:nvSpPr>
        <p:spPr>
          <a:xfrm>
            <a:off x="411480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11480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114800" y="3200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Modelado dimensional y DAX avanzado en producción.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14800" y="3657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Query, SQL Server, Firebird, DuckDB, PostgreSQL.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114800" y="41148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BI Premium, Premium Capacity y Semantic Link.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114800" y="4572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Python (DAX Studio, pandas, Tabular Editor) y AI agents.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114800" y="5029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BI Subscriptions, Smart Narrative, orquestación de agentes.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0" y="5486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Datasets reales &gt; 20M filas en proyectos productivos.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te enseñamos Power BI. Te enseñamos a pensar como un arquitecto BI."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 ·  4 sesiones, 8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online (Zoom / Meet)  ·  Bootcamp en 2 fines de semana (sábado y domingo, 4 sesiones de 2 hrs)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40280"/>
            <a:ext cx="2788920" cy="4114800"/>
          </a:xfrm>
          <a:prstGeom prst="roundRect">
            <a:avLst>
              <a:gd name="adj" fmla="val 3279"/>
            </a:avLst>
          </a:prstGeom>
          <a:solidFill>
            <a:srgbClr val="0F1B2D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377440"/>
            <a:ext cx="548640" cy="54864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301752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Pro + Modelado en Estrella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2240280"/>
            <a:ext cx="2788920" cy="4114800"/>
          </a:xfrm>
          <a:prstGeom prst="roundRect">
            <a:avLst>
              <a:gd name="adj" fmla="val 3279"/>
            </a:avLst>
          </a:prstGeom>
          <a:solidFill>
            <a:srgbClr val="0F1B2D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20440" y="2377440"/>
            <a:ext cx="548640" cy="54864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044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520440" y="301752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I — CALCULATE, Contextos e Iteradores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63640" y="2240280"/>
            <a:ext cx="2788920" cy="4114800"/>
          </a:xfrm>
          <a:prstGeom prst="roundRect">
            <a:avLst>
              <a:gd name="adj" fmla="val 3279"/>
            </a:avLst>
          </a:prstGeom>
          <a:solidFill>
            <a:srgbClr val="0F1B2D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377440"/>
            <a:ext cx="548640" cy="54864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0" y="301752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II — Time Intelligence + Comparativos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144000" y="2240280"/>
            <a:ext cx="2788920" cy="4114800"/>
          </a:xfrm>
          <a:prstGeom prst="roundRect">
            <a:avLst>
              <a:gd name="adj" fmla="val 3279"/>
            </a:avLst>
          </a:prstGeom>
          <a:solidFill>
            <a:srgbClr val="0F1B2D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281160" y="2377440"/>
            <a:ext cx="548640" cy="54864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8116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9281160" y="301752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Ejecutivo + Publicación + Portafolio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hacks que te llevas a casa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no salen en YouTube y que se aprenden únicamente en producción.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Date/Time = OFF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30% menos memoria sin tocar nada más.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6656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+ RETURN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Legibilidad y a veces performance. Siempre.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728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DIVIDE() vs /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División por cero gratis.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6656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SELECTEDVALUE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Adiós al IF(HASONEVALUE...).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TOTALYTD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intelligence en una línea.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76656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JSON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6656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uses default Power BI en producción.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09728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REMOVEFILTERS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explícito que ALL.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76656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.pbit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76656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Reutilizables en cualquier proyecto.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09728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staging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9728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load = modelo limpio.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1792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76656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tabla calendario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76656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esto, time intelligence rompe.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final  ·  con tus datos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con un dashboard publicado en Power BI Service.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Dimensional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documentado con cardinalidades.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9768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Medidas DAX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48056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Documentadas, optimizadas y reutilizables.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9244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Ejecutivo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27532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corporativo + bookmarks + drill-through.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68580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en Service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8580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básico con refresh.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29768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2628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448056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48056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1-pager con arquitectura y decisiones.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9244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32104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104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827532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portafolio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827532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dashboard demo publicable.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recibes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clases. Activos digitales que vas a usar por años.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1310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2286000"/>
            <a:ext cx="109728" cy="131064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6212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621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0020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sesiones intensivas en vivo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0020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horas de mentoría 1 a 1.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72200" y="2286000"/>
            <a:ext cx="5486400" cy="1310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72200" y="2286000"/>
            <a:ext cx="109728" cy="131064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46520" y="26212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2621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26948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hacks profesionales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26948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Documentados, organizados por área.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733800"/>
            <a:ext cx="5486400" cy="1310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" y="3733800"/>
            <a:ext cx="109728" cy="131064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600200" y="38709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plantilla .pbit + 10 medidas DAX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600200" y="42367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Reusables en cualquier proyecto.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72200" y="3733800"/>
            <a:ext cx="5486400" cy="1310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72200" y="3733800"/>
            <a:ext cx="109728" cy="131064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46520" y="40690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269480" y="38709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 Sheet DAX (PDF)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269480" y="42367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30 patrones más usados en producción.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02920" y="5181600"/>
            <a:ext cx="5486400" cy="1310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920" y="5181600"/>
            <a:ext cx="109728" cy="131064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77240" y="55168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77240" y="5516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600200" y="53187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WhatsApp 7 días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600200" y="56845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Resolvemos dudas inmediatas post-curso.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172200" y="5181600"/>
            <a:ext cx="5486400" cy="1310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172200" y="5181600"/>
            <a:ext cx="109728" cy="131064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46520" y="55168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46520" y="5516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269480" y="53187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digital firmado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7269480" y="56845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LinkedIn.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vs Estándar  ·  Para que decidas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tier Express te da los fundamentos. Si quieres el dominio completo, considera el Estándar.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5486400" cy="4572000"/>
          </a:xfrm>
          <a:prstGeom prst="roundRect">
            <a:avLst>
              <a:gd name="adj" fmla="val 3000"/>
            </a:avLst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0116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 ·  $4,500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4 sesiones (8 hrs)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20 hacks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 medidas DAX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Cheat Sheet PDF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3891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Soporte 7 días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800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Certificado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737360"/>
            <a:ext cx="5486400" cy="4572000"/>
          </a:xfrm>
          <a:prstGeom prst="roundRect">
            <a:avLst>
              <a:gd name="adj" fmla="val 3000"/>
            </a:avLst>
          </a:prstGeom>
          <a:solidFill>
            <a:srgbClr val="15406B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20116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 ·  $8,500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92240" y="2743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8 sesiones (16 hrs)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3154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50+ hacks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3566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30 medidas DAX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3977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Calculation Groups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3891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Optimización DAX Studio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4800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Power BI Service + RLS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2240" y="5212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Mentoría 30 días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2240" y="56235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4 bonos extras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31520"/>
            <a:ext cx="10332720" cy="539496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50800">
            <a:solidFill>
              <a:srgbClr val="00A8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800" kern="0" dirty="0">
                <a:solidFill>
                  <a:srgbClr val="00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10332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después de la sesión 1 sientes que no es para ti, devolución del 100%.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0" y="4023360"/>
            <a:ext cx="3931920" cy="0"/>
          </a:xfrm>
          <a:prstGeom prst="line">
            <a:avLst/>
          </a:prstGeom>
          <a:noFill/>
          <a:ln w="38100">
            <a:solidFill>
              <a:srgbClr val="00A8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justificaciones. Sin papeleo. Sin condiciones letra chica.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Asumo el riesgo yo, no tú. Si invertimos en ti, tú confías en mí — y yo confío en mi método.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Más del 90% de nuestros alumnos completan el programa.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inversión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1 exhibición (5% descuento) o 2 quincenas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743200" y="2377440"/>
            <a:ext cx="6675120" cy="3840480"/>
          </a:xfrm>
          <a:prstGeom prst="roundRect">
            <a:avLst>
              <a:gd name="adj" fmla="val 4762"/>
            </a:avLst>
          </a:prstGeom>
          <a:solidFill>
            <a:srgbClr val="0F1B2D"/>
          </a:solidFill>
          <a:ln w="50800">
            <a:solidFill>
              <a:srgbClr val="00A8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0" y="26060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743200" y="30632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 Express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743200" y="36118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$4,500 MXN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2743200" y="47091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aprox. $250 USD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846320" y="5120640"/>
            <a:ext cx="2468880" cy="0"/>
          </a:xfrm>
          <a:prstGeom prst="line">
            <a:avLst/>
          </a:prstGeom>
          <a:noFill/>
          <a:ln w="25400">
            <a:solidFill>
              <a:srgbClr val="00A8A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43200" y="53492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sesiones  ·  8 horas  ·  1 a 1 online (Zoom / Meet)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743200" y="57150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 intensivo de fundamentos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cuesta NO invertir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matemáticas frías: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hrs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9436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01752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que pierdes refrescando reportes a mano y exportando a Excel.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626364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mínima de un freelance BI por un dashboard productivo.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días</a:t>
            </a:r>
            <a:endParaRPr lang="en-US" sz="4800" dirty="0"/>
          </a:p>
        </p:txBody>
      </p:sp>
      <p:sp>
        <p:nvSpPr>
          <p:cNvPr id="16" name="Text 13"/>
          <p:cNvSpPr/>
          <p:nvPr/>
        </p:nvSpPr>
        <p:spPr>
          <a:xfrm>
            <a:off x="59436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recuperar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01752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promedio para recuperar la inversión con un solo proyecto freelance.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</a:t>
            </a:r>
            <a:endParaRPr lang="en-US" sz="4800" dirty="0"/>
          </a:p>
        </p:txBody>
      </p:sp>
      <p:sp>
        <p:nvSpPr>
          <p:cNvPr id="20" name="Text 17"/>
          <p:cNvSpPr/>
          <p:nvPr/>
        </p:nvSpPr>
        <p:spPr>
          <a:xfrm>
            <a:off x="626364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inversión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68680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de tiempo + valor en portafolio LinkedIn al cierre del bootcamp.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método 2BI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 (anonimizados) del método aplicado en producción.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–73%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carga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645920" y="3703320"/>
            <a:ext cx="1463040" cy="0"/>
          </a:xfrm>
          <a:prstGeom prst="line">
            <a:avLst/>
          </a:prstGeom>
          <a:noFill/>
          <a:ln w="25400">
            <a:solidFill>
              <a:srgbClr val="00A8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ventas que cargaba en 11s ahora carga en 3s. Clave: removeFilters + Calculation Groups.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+$45K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52628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40680" y="3703320"/>
            <a:ext cx="1463040" cy="0"/>
          </a:xfrm>
          <a:prstGeom prst="line">
            <a:avLst/>
          </a:prstGeom>
          <a:noFill/>
          <a:ln w="25400">
            <a:solidFill>
              <a:srgbClr val="00A8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junior con curso completado: ascendió a Sr Analyst con bono de retención. 4 meses post-curso.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hrs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32104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35440" y="3703320"/>
            <a:ext cx="1463040" cy="0"/>
          </a:xfrm>
          <a:prstGeom prst="line">
            <a:avLst/>
          </a:prstGeom>
          <a:noFill/>
          <a:ln w="25400">
            <a:solidFill>
              <a:srgbClr val="00A8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PyME: equipo administrativo recuperó 40 hrs/mes con dataflow + alertas automatizadas.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Tu caso de éxito puede ser el siguiente.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¿Bootcamp Express es para ti?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— si tú...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nivel principiante-básico de Power BI.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Necesitas dominar fundamentos rápido.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Prefieres bootcamp intensivo a curso largo.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448056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Quieres tu primera plantilla productiva.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" y="502920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Buscas la inversión más accesible para empezar.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si tú...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46520" y="283464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has abierto Power BI ni una vez.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46520" y="347472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Buscas dominio completo (necesitas Estándar).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411480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Necesitas RLS, Pipelines, Power BI Premium (Estándar/Premium).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6520" y="475488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Eres equipo corporativo (necesitas VIP).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arrancamos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731520" cy="73152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74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el tier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 Express — decisión simple basada en tu objetivo.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697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+ acuerdo firmado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1089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1 exhibición (5% descuento) o 2 quincenas. Acuerdo digital con cláusulas claras.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731520" cy="73152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5661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inicial 30 min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9776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Calibramos nivel real y elegimos tu dataset.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731520" cy="73152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80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4348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Calendarizamos las sesiones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8463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sesiones, mismo horario cada semana.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731520" cy="73152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49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554480" y="5303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en menos de 7 días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54480" y="57150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Empezamos. Quick win garantizado el primer día.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371600" y="6126480"/>
            <a:ext cx="9418320" cy="548640"/>
          </a:xfrm>
          <a:prstGeom prst="roundRect">
            <a:avLst>
              <a:gd name="adj" fmla="val 50000"/>
            </a:avLst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12648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con "VAMOS" y arrancamos esta semana.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2BI y no otro curso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con datos reales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genérico. Trabajamos con TUS datos desde el día 1.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9768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Hacks de producción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8056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que no aparece en YouTube ni en Udemy.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09244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Mentoría real post-curso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 dejamos solo. Soporte WhatsApp con respuesta &lt; 24 hrs.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0292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8580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profesional incluido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Editor, DAX Studio, .pbip + Git desde día 1.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9768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2628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48056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DAX documentados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48056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reutilizable que usarás por años.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9244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32104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104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27532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monetización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27532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aprendes. Te enseñamos a cobrar lo que vales.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entre quien usa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quien lo domina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4 sesiones.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4114800" y="3931920"/>
            <a:ext cx="3931920" cy="0"/>
          </a:xfrm>
          <a:prstGeom prst="line">
            <a:avLst/>
          </a:prstGeom>
          <a:noFill/>
          <a:ln w="38100">
            <a:solidFill>
              <a:srgbClr val="00A8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guillermorc44@gmail.com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 Express  ·  Propuesta válida 7 días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2BI · Business Intelligence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2BI — Bootcamp Express</dc:title>
  <dc:subject>PptxGenJS Presentation</dc:subject>
  <dc:creator>2BI</dc:creator>
  <cp:lastModifiedBy>2BI</cp:lastModifiedBy>
  <cp:revision>1</cp:revision>
  <dcterms:created xsi:type="dcterms:W3CDTF">2026-05-08T03:37:42Z</dcterms:created>
  <dcterms:modified xsi:type="dcterms:W3CDTF">2026-05-08T03:37:42Z</dcterms:modified>
</cp:coreProperties>
</file>