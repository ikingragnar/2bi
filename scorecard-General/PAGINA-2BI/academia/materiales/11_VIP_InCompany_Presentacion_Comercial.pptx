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0" y="36576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10652760" y="1828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27080" y="36576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8961120" y="12801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Intelligence Studio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 IN-COMPANY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37744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In-Company VIP</a:t>
            </a:r>
            <a:endParaRPr lang="en-US" sz="7600" dirty="0"/>
          </a:p>
        </p:txBody>
      </p:sp>
      <p:sp>
        <p:nvSpPr>
          <p:cNvPr id="10" name="Text 8"/>
          <p:cNvSpPr/>
          <p:nvPr/>
        </p:nvSpPr>
        <p:spPr>
          <a:xfrm>
            <a:off x="731520" y="36576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Estandarización, gobierno de datos y capacitación corporativa.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31520" y="4434840"/>
            <a:ext cx="2743200" cy="0"/>
          </a:xfrm>
          <a:prstGeom prst="line">
            <a:avLst/>
          </a:prstGeom>
          <a:noFill/>
          <a:ln w="38100">
            <a:solidFill>
              <a:srgbClr val="2F6F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617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sesiones  ·  64 horas  ·  $25,000 - $60,000 MXN (cotización personalizada)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56692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5989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  ·  guillermorc44@gmail.com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Power BI instalado.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17830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la herramienta no te está pagando lo que debería.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2743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299008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990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325880" y="288036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equipo BI tiene niveles desiguales: cada uno hace dashboards a su manera.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2743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299008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5080" y="2990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7040880" y="288036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estándares, los reportes inconsistentes pierden credibilidad ejecutiva.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393192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" y="417880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4178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1325880" y="4069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nuevo analista tarda meses en producir algo realmente útil.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72200" y="393192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55080" y="417880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55080" y="4178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7040880" y="4069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tienes documentación viva: cuando alguien renuncia, su conocimiento se va con él.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512064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" y="536752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5367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5" name="Text 22"/>
          <p:cNvSpPr/>
          <p:nvPr/>
        </p:nvSpPr>
        <p:spPr>
          <a:xfrm>
            <a:off x="1325880" y="525780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Premium / Power BI Premium ya está pagado, pero la organización no lo aprovecha.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172200" y="512064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355080" y="536752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55080" y="5367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9" name="Text 26"/>
          <p:cNvSpPr/>
          <p:nvPr/>
        </p:nvSpPr>
        <p:spPr>
          <a:xfrm>
            <a:off x="7040880" y="525780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pide insights "mejores y más rápidos" — y BI no escala.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5720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In-Company VIP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verdad incómoda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herramienta sin método multiplica el caos.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es una palanca brutal — pero solo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equipo comparte un estándar.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10972800" cy="1737360"/>
          </a:xfrm>
          <a:prstGeom prst="roundRect">
            <a:avLst>
              <a:gd name="adj" fmla="val 7895"/>
            </a:avLst>
          </a:prstGeom>
          <a:solidFill>
            <a:srgbClr val="15406B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480560"/>
            <a:ext cx="2560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meses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3474720" y="4617720"/>
            <a:ext cx="7955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lo que tarda en promedio un nuevo analista en producir un dashboard útil — sin método. Con un estándar 2BI, ese mismo analista produce algo entregable en 4 semanas.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vas a transformar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programa  →  Después del programa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94560"/>
            <a:ext cx="5532120" cy="4297680"/>
          </a:xfrm>
          <a:prstGeom prst="roundRect">
            <a:avLst>
              <a:gd name="adj" fmla="val 3191"/>
            </a:avLst>
          </a:prstGeom>
          <a:solidFill>
            <a:srgbClr val="FCE4E4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85800" y="2880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Cada analista hace dashboards a su manera.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Sin estándar de medidas DAX.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3886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Sin governance documentado.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" y="4389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Reportes inconsistentes entre áreas.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4892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Sin pipeline DEV/TEST/PROD.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5800" y="5394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Conocimiento atado a personas.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85800" y="5897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Power BI Premium subutilizado.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72200" y="2194560"/>
            <a:ext cx="5532120" cy="4297680"/>
          </a:xfrm>
          <a:prstGeom prst="roundRect">
            <a:avLst>
              <a:gd name="adj" fmla="val 3191"/>
            </a:avLst>
          </a:prstGeom>
          <a:solidFill>
            <a:srgbClr val="E0F4EC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5508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400800" y="2880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Método 2BI estándar para todo el equipo.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0080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Library de 50+ medidas DAX corporativas.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0" y="3886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Documento de Governance firmado.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Reportes consistentes con marca y método único.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00800" y="4892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CI/CD con GitHub Actions operativo.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400800" y="5394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Conocimiento documentado y transferible.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400800" y="5897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Capacidad Premium / Power BI Premium explotada al 100%.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es 2BI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2011680"/>
            <a:ext cx="3017520" cy="3017520"/>
          </a:xfrm>
          <a:prstGeom prst="ellipse">
            <a:avLst/>
          </a:prstGeom>
          <a:solidFill>
            <a:srgbClr val="0F1B2D"/>
          </a:solidFill>
          <a:ln w="50800">
            <a:solidFill>
              <a:srgbClr val="2F6F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011680"/>
            <a:ext cx="1508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0" dirty="0"/>
          </a:p>
        </p:txBody>
      </p:sp>
      <p:sp>
        <p:nvSpPr>
          <p:cNvPr id="7" name="Text 4"/>
          <p:cNvSpPr/>
          <p:nvPr/>
        </p:nvSpPr>
        <p:spPr>
          <a:xfrm>
            <a:off x="2148840" y="2011680"/>
            <a:ext cx="1508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11000" dirty="0"/>
          </a:p>
        </p:txBody>
      </p:sp>
      <p:sp>
        <p:nvSpPr>
          <p:cNvPr id="8" name="Text 5"/>
          <p:cNvSpPr/>
          <p:nvPr/>
        </p:nvSpPr>
        <p:spPr>
          <a:xfrm>
            <a:off x="4114800" y="2103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4114800" y="2606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114800" y="32004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Modelado dimensional y DAX avanzado en producción.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114800" y="3657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Query, SQL Server, Firebird, DuckDB, PostgreSQL.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114800" y="41148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BI Premium, Premium Capacity y Semantic Link.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114800" y="4572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Python (DAX Studio, pandas, Tabular Editor) y AI agents.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114800" y="5029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BI Subscriptions, Smart Narrative, orquestación de agentes.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114800" y="54864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Datasets reales &gt; 20M filas en proyectos productivos.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720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te enseñamos Power BI. Te enseñamos a pensar como un arquitecto BI."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  ·  16 sesiones, 64 horas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(Teams/Zoom) o híbrido (1-2 presenciales en CDMX/MTY)  ·  16 sesiones de 4 hrs, 2-3 veces por semana, durante 6-8 semanas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02920" y="224028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237744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295351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empresarial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331927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ses.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83280" y="224028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20440" y="237744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520440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3520440" y="295351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Estandarización metodológica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520440" y="331927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ses.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263640" y="224028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400800" y="237744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295351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 corporativo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331927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9144000" y="224028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281160" y="237744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281160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9281160" y="295351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en estrella + Governance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9281160" y="331927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ses.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02920" y="370332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0080" y="384048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008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640080" y="441655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corporativo + Library de medidas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40080" y="478231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ses.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383280" y="370332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520440" y="384048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5204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3520440" y="441655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Groups + Field Parameters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3520440" y="478231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ses.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6263640" y="370332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400800" y="384048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40080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39" name="Text 36"/>
          <p:cNvSpPr/>
          <p:nvPr/>
        </p:nvSpPr>
        <p:spPr>
          <a:xfrm>
            <a:off x="6400800" y="441655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UX/UI corporativo + Tema con marca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400800" y="478231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ses.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9144000" y="370332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9281160" y="384048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28116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44" name="Text 41"/>
          <p:cNvSpPr/>
          <p:nvPr/>
        </p:nvSpPr>
        <p:spPr>
          <a:xfrm>
            <a:off x="9281160" y="441655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+ BPA + ALM Toolkit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9281160" y="478231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ses.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502920" y="516636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40080" y="530352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40080" y="5303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49" name="Text 46"/>
          <p:cNvSpPr/>
          <p:nvPr/>
        </p:nvSpPr>
        <p:spPr>
          <a:xfrm>
            <a:off x="640080" y="587959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Service: workspaces, RLS dinámico, Apps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640080" y="624535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ses.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3383280" y="516636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3520440" y="530352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3520440" y="5303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54" name="Text 51"/>
          <p:cNvSpPr/>
          <p:nvPr/>
        </p:nvSpPr>
        <p:spPr>
          <a:xfrm>
            <a:off x="3520440" y="587959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DEV/TEST/PROD + REST API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3520440" y="624535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ses.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6263640" y="516636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400800" y="530352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6400800" y="5303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800" dirty="0"/>
          </a:p>
        </p:txBody>
      </p:sp>
      <p:sp>
        <p:nvSpPr>
          <p:cNvPr id="59" name="Text 56"/>
          <p:cNvSpPr/>
          <p:nvPr/>
        </p:nvSpPr>
        <p:spPr>
          <a:xfrm>
            <a:off x="6400800" y="587959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.pbip + TMDL + Git para versionado</a:t>
            </a:r>
            <a:endParaRPr lang="en-US" sz="1100" dirty="0"/>
          </a:p>
        </p:txBody>
      </p:sp>
      <p:sp>
        <p:nvSpPr>
          <p:cNvPr id="60" name="Text 57"/>
          <p:cNvSpPr/>
          <p:nvPr/>
        </p:nvSpPr>
        <p:spPr>
          <a:xfrm>
            <a:off x="6400800" y="624535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ses.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9144000" y="516636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9281160" y="530352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9281160" y="5303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800" dirty="0"/>
          </a:p>
        </p:txBody>
      </p:sp>
      <p:sp>
        <p:nvSpPr>
          <p:cNvPr id="64" name="Text 61"/>
          <p:cNvSpPr/>
          <p:nvPr/>
        </p:nvSpPr>
        <p:spPr>
          <a:xfrm>
            <a:off x="9281160" y="587959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Labels + Audit Logs + Compliance</a:t>
            </a:r>
            <a:endParaRPr lang="en-US" sz="1100" dirty="0"/>
          </a:p>
        </p:txBody>
      </p:sp>
      <p:sp>
        <p:nvSpPr>
          <p:cNvPr id="65" name="Text 62"/>
          <p:cNvSpPr/>
          <p:nvPr/>
        </p:nvSpPr>
        <p:spPr>
          <a:xfrm>
            <a:off x="9281160" y="624535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ses.</a:t>
            </a:r>
            <a:endParaRPr lang="en-US" sz="900" dirty="0"/>
          </a:p>
        </p:txBody>
      </p:sp>
      <p:sp>
        <p:nvSpPr>
          <p:cNvPr id="66" name="Shape 63"/>
          <p:cNvSpPr/>
          <p:nvPr/>
        </p:nvSpPr>
        <p:spPr>
          <a:xfrm>
            <a:off x="502920" y="6629400"/>
            <a:ext cx="2788920" cy="1371600"/>
          </a:xfrm>
          <a:prstGeom prst="roundRect">
            <a:avLst>
              <a:gd name="adj" fmla="val 6667"/>
            </a:avLst>
          </a:prstGeom>
          <a:solidFill>
            <a:srgbClr val="0F1B2D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640080" y="6766560"/>
            <a:ext cx="502920" cy="5029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40080" y="6766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800" dirty="0"/>
          </a:p>
        </p:txBody>
      </p:sp>
      <p:sp>
        <p:nvSpPr>
          <p:cNvPr id="69" name="Text 66"/>
          <p:cNvSpPr/>
          <p:nvPr/>
        </p:nvSpPr>
        <p:spPr>
          <a:xfrm>
            <a:off x="640080" y="734263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ejecutivo de cierre + Handoff 90 días</a:t>
            </a:r>
            <a:endParaRPr lang="en-US" sz="1100" dirty="0"/>
          </a:p>
        </p:txBody>
      </p:sp>
      <p:sp>
        <p:nvSpPr>
          <p:cNvPr id="70" name="Text 67"/>
          <p:cNvSpPr/>
          <p:nvPr/>
        </p:nvSpPr>
        <p:spPr>
          <a:xfrm>
            <a:off x="640080" y="770839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ses.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stack metodológico 2BI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Cosas que no salen en YouTube y que se aprenden únicamente en producción.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17647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Governance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20756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único para tu organización.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09360" y="16916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66560" y="17647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DAX corporativa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66560" y="20756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medidas estandarizadas.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6060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6060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97280" y="2679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con tu marca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9900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Coherencia visual 100% corporativa.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26060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26060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766560" y="2679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BPA reglas custom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66560" y="29900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adaptadas a tu metodología.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204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7280" y="35935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+ GitHub Actions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39044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productivo desde día 1.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35204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766560" y="35935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Capacity con tu capacity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766560" y="39044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Aprovechamos lo que ya tienes.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4348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4348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097280" y="45079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ejecutivo de cierre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97280" y="48188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Buy-in directo de C-level.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17920" y="44348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0" y="44348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766560" y="45079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90 días con SLA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766560" y="48188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&lt; 24 hrs hábiles.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3492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3492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097280" y="54223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Certificación 2BI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97280" y="57332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físico + digital con QR.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217920" y="53492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53492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766560" y="54223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Newsletter trimestral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766560" y="57332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Power BI Premium/Power BI cada quarter.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corporativo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tu equipo entrega a la organización al cierre del programa.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Governance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páginas: principios, nomenclatura, BPA, deploy.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9768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2628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2628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48056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DAX corporativa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48056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medidas estandarizadas para toda la organización.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9244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2104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104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27532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con tu marca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27532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corporativo + tema JSON con tu paleta.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152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68580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productivo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8580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RLS, dataflows, pipeline DEV/TEST/PROD operativo.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29768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2628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2628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448056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12 meses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48056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estratégico aprobado por dirección.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09244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32104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2104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827532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certificado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827532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participante con certificación 2BI.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recibes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solo clases. Activos digitales que vas a usar por años.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2286000"/>
            <a:ext cx="109728" cy="73152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33172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331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600200" y="24231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sesiones grupales de 4 hrs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600200" y="27889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horas de capacitación técnica intensiva.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72200" y="228600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172200" y="2286000"/>
            <a:ext cx="109728" cy="73152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46520" y="233172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2331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269480" y="24231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empresarial inicial gratuito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269480" y="27889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hrs de audit a tu arquitectura BI actual.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315468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2920" y="3154680"/>
            <a:ext cx="109728" cy="73152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77240" y="320040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3200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600200" y="329184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corporativas customizadas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600200" y="365760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corporativo + tema con tu marca.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172200" y="315468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172200" y="3154680"/>
            <a:ext cx="109728" cy="73152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46520" y="320040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3200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269480" y="329184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de DAX corporativa (50+ medidas)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269480" y="365760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de medidas para tu organización.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02920" y="402336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02920" y="4023360"/>
            <a:ext cx="109728" cy="73152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77240" y="40690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77240" y="4069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600200" y="416052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mentor 1:1 por participante (4 hrs)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600200" y="452628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Acompañamiento personalizado por colaborador.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172200" y="402336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172200" y="4023360"/>
            <a:ext cx="109728" cy="73152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446520" y="40690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46520" y="4069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269480" y="416052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90 días post-implementación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7269480" y="452628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Teams. SLA: respuesta &lt;24 hrs hábiles.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02920" y="489204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02920" y="4892040"/>
            <a:ext cx="109728" cy="73152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77240" y="493776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7240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600200" y="50292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Certificación 2BI por participante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600200" y="539496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físico + digital con QR de validación.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6172200" y="489204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172200" y="4892040"/>
            <a:ext cx="109728" cy="73152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446520" y="493776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446520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1800" dirty="0"/>
          </a:p>
        </p:txBody>
      </p:sp>
      <p:sp>
        <p:nvSpPr>
          <p:cNvPr id="52" name="Text 49"/>
          <p:cNvSpPr/>
          <p:nvPr/>
        </p:nvSpPr>
        <p:spPr>
          <a:xfrm>
            <a:off x="7269480" y="50292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ejecutivo de cierre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269480" y="539496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hrs con dirección: roadmap BI corporativo a 12 meses.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502920" y="576072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02920" y="5760720"/>
            <a:ext cx="109728" cy="73152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77240" y="580644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777240" y="5806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800" dirty="0"/>
          </a:p>
        </p:txBody>
      </p:sp>
      <p:sp>
        <p:nvSpPr>
          <p:cNvPr id="58" name="Text 55"/>
          <p:cNvSpPr/>
          <p:nvPr/>
        </p:nvSpPr>
        <p:spPr>
          <a:xfrm>
            <a:off x="1600200" y="589788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Governance de Datos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1600200" y="626364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páginas de buenas prácticas + diagrama de arquitectura.</a:t>
            </a:r>
            <a:endParaRPr lang="en-US" sz="1100" dirty="0"/>
          </a:p>
        </p:txBody>
      </p:sp>
      <p:sp>
        <p:nvSpPr>
          <p:cNvPr id="60" name="Text 57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Bonos exclusivos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confirmas el pago en los próximos 7 días, recibes además: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83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1 — Audit gratuito de arquitectura BI (antes de firmar)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148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costo, sin compromiso. Te entregamos hallazgos accionables aunque no contrates.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0" y="1920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$7,500 MXN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2 — Setup gratuito de Power BI Service workspace + Pipelines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profesional de workspace, Apps, Pipelines DEV/TEST/PROD y RLS dinámico.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0" y="3063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$12,000 MXN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3 — 1 sesión ejecutiva con C-level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4434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minutos con CFO/CIO sobre ROI y métricas de éxito.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$5,000 MXN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120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5212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4 — Newsletter trimestral de updates 2BI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5577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equipo recibe novedades y best practices de Power BI cada quarter.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0" y="5349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recurrente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total de los bonos: $24,500 MXN  ·  Incluido sin costo si confirmas en 7 días.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31520"/>
            <a:ext cx="10332720" cy="539496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50800">
            <a:solidFill>
              <a:srgbClr val="2F6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005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800" kern="0" dirty="0">
                <a:solidFill>
                  <a:srgbClr val="1F4E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10332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 de satisfacción al cierre. Si la dirección no aprueba el resultado en el workshop final, refinamos sin costo adicional hasta 4 hrs extra.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0" y="4023360"/>
            <a:ext cx="3931920" cy="0"/>
          </a:xfrm>
          <a:prstGeom prst="line">
            <a:avLst/>
          </a:prstGeom>
          <a:noFill/>
          <a:ln w="38100">
            <a:solidFill>
              <a:srgbClr val="2F6F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justificaciones. Sin papeleo. Sin condiciones letra chica.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75488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Asumo el riesgo yo, no tú. Si invertimos en ti, tú confías en mí — y yo confío en mi método.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5577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Más del 90% de nuestros alumnos completan el programa.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inversión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 empresarial. Anticipo 50% + 50% al cierre. Soporta SAT, NDA y contrato de servicios.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2743200" y="2377440"/>
            <a:ext cx="6675120" cy="3840480"/>
          </a:xfrm>
          <a:prstGeom prst="roundRect">
            <a:avLst>
              <a:gd name="adj" fmla="val 4762"/>
            </a:avLst>
          </a:prstGeom>
          <a:solidFill>
            <a:srgbClr val="0F1B2D"/>
          </a:solidFill>
          <a:ln w="50800">
            <a:solidFill>
              <a:srgbClr val="2F6F4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0" y="26060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6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 IN-COMPANY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2743200" y="30632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In-Company VIP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743200" y="3611880"/>
            <a:ext cx="6675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$25,000 - $60,000 MXN (cotización personalizada)</a:t>
            </a:r>
            <a:endParaRPr lang="en-US" sz="6400" dirty="0"/>
          </a:p>
        </p:txBody>
      </p:sp>
      <p:sp>
        <p:nvSpPr>
          <p:cNvPr id="10" name="Text 7"/>
          <p:cNvSpPr/>
          <p:nvPr/>
        </p:nvSpPr>
        <p:spPr>
          <a:xfrm>
            <a:off x="2743200" y="470916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aprox. $1,400 - $3,300 USD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846320" y="5120640"/>
            <a:ext cx="2468880" cy="0"/>
          </a:xfrm>
          <a:prstGeom prst="line">
            <a:avLst/>
          </a:prstGeom>
          <a:noFill/>
          <a:ln w="25400">
            <a:solidFill>
              <a:srgbClr val="2F6F4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43200" y="534924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sesiones  ·  64 horas  ·  Online (Teams/Zoom) o híbrido (1-2 presenciales en CDMX/MTY)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2743200" y="571500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con tus datos incluido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organizacional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783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matemáticas frías: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24688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59436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F4E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tiempo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017520" y="25603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tiempo para crear un dashboard nuevo después del programa.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26480" y="233172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24688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hrs</a:t>
            </a:r>
            <a:endParaRPr lang="en-US" sz="4800" dirty="0"/>
          </a:p>
        </p:txBody>
      </p:sp>
      <p:sp>
        <p:nvSpPr>
          <p:cNvPr id="12" name="Text 9"/>
          <p:cNvSpPr/>
          <p:nvPr/>
        </p:nvSpPr>
        <p:spPr>
          <a:xfrm>
            <a:off x="626364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F4E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686800" y="25603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recuperado por equipo al estandarizar y automatizar.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42976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" y="4434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$120K</a:t>
            </a:r>
            <a:endParaRPr lang="en-US" sz="4800" dirty="0"/>
          </a:p>
        </p:txBody>
      </p:sp>
      <p:sp>
        <p:nvSpPr>
          <p:cNvPr id="16" name="Text 13"/>
          <p:cNvSpPr/>
          <p:nvPr/>
        </p:nvSpPr>
        <p:spPr>
          <a:xfrm>
            <a:off x="59436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F4E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MXN/año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017520" y="452628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 oportunidad de un equipo BI sin estándar (3 personas).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0" y="42976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4434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meses</a:t>
            </a:r>
            <a:endParaRPr lang="en-US" sz="4800" dirty="0"/>
          </a:p>
        </p:txBody>
      </p:sp>
      <p:sp>
        <p:nvSpPr>
          <p:cNvPr id="20" name="Text 17"/>
          <p:cNvSpPr/>
          <p:nvPr/>
        </p:nvSpPr>
        <p:spPr>
          <a:xfrm>
            <a:off x="626364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F4E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686800" y="452628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promedio en recuperar la inversión vía productividad del equipo.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método 2BI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reales (anonimizados) del método aplicado en producción.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–60%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creación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645920" y="3703320"/>
            <a:ext cx="1463040" cy="0"/>
          </a:xfrm>
          <a:prstGeom prst="line">
            <a:avLst/>
          </a:prstGeom>
          <a:noFill/>
          <a:ln w="25400">
            <a:solidFill>
              <a:srgbClr val="2F6F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BI de 4 personas redujo el tiempo de crear un dashboard nuevo de 3 semanas a 1 semana después del programa.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+$280K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52628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 ahorrados/año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40680" y="3703320"/>
            <a:ext cx="1463040" cy="0"/>
          </a:xfrm>
          <a:prstGeom prst="line">
            <a:avLst/>
          </a:prstGeom>
          <a:noFill/>
          <a:ln w="25400">
            <a:solidFill>
              <a:srgbClr val="2F6F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Estandarización eliminó retrabajo y automatizó refresh manual: 35 hrs/semana recuperadas.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832104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adopción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35440" y="3703320"/>
            <a:ext cx="1463040" cy="0"/>
          </a:xfrm>
          <a:prstGeom prst="line">
            <a:avLst/>
          </a:prstGeom>
          <a:noFill/>
          <a:ln w="25400">
            <a:solidFill>
              <a:srgbClr val="2F6F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analistas certificados. Documento de Governance firmado por CIO. Roadmap aprobado por CFO.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Tu caso de éxito puede ser el siguiente.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¿In-Company VIP es para ti?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2194560"/>
            <a:ext cx="5532120" cy="4206240"/>
          </a:xfrm>
          <a:prstGeom prst="roundRect">
            <a:avLst>
              <a:gd name="adj" fmla="val 3261"/>
            </a:avLst>
          </a:prstGeom>
          <a:solidFill>
            <a:srgbClr val="E0F4EC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— si tú...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Tienes equipo BI de 2-5 personas.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338328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Necesitas estandarizar metodología.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Tienes Power BI Premium o Power BI Premium subutilizado.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448056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Buscas reducir dependencia de personas clave.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" y="502920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Quieres documentar conocimiento corporativo.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557784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Tienes presupuesto &gt; $25K MXN para capacitación.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2194560"/>
            <a:ext cx="5532120" cy="4206240"/>
          </a:xfrm>
          <a:prstGeom prst="roundRect">
            <a:avLst>
              <a:gd name="adj" fmla="val 3261"/>
            </a:avLst>
          </a:prstGeom>
          <a:solidFill>
            <a:srgbClr val="FCE4E4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si tú...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46520" y="283464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Solo eres 1 persona (toma Estándar o Premium).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347472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tienes presupuesto corporativo.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6520" y="411480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tienes apoyo ejecutivo para el proyecto.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46520" y="475488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Esperas implementación de proyecto BI completo (es cotización aparte).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arrancamos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731520" cy="7315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74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54480" y="18288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gratuito de arquitectura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22402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hrs sin compromiso. Te entregamos hallazgos accionables.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26974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Cotización personalizada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1089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con scope, calendario y SLA.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731520" cy="7315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11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5661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Acuerdo + anticipo 50%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39776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servicios + NDA + factura empresarial.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80560"/>
            <a:ext cx="731520" cy="7315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480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54480" y="44348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inicial 4 hrs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48463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Identificamos brechas y customizamos currículo.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731520" cy="731520"/>
          </a:xfrm>
          <a:prstGeom prst="ellipse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349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554480" y="5303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en menos de 14 días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54480" y="57150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sesiones programadas. Comienza la capacitación.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371600" y="6126480"/>
            <a:ext cx="9418320" cy="548640"/>
          </a:xfrm>
          <a:prstGeom prst="roundRect">
            <a:avLst>
              <a:gd name="adj" fmla="val 50000"/>
            </a:avLst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12648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con "AUDIT" y agendamos esta semana.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2BI y no otro curso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8580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 1 con datos reales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genérico. Trabajamos con TUS datos desde el día 1.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9768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2628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2628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48056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Hacks de producción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8056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que no aparece en YouTube ni en Udemy.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09244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2104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2104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27532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Mentoría real post-curso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7532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 dejamos solo. Soporte WhatsApp con respuesta &lt; 24 hrs.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0292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8580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profesional incluido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8580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Editor, DAX Studio, .pbip + Git desde día 1.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9768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2628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48056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DAX documentados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48056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reutilizable que usarás por años.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09244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32104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2104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827532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monetización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827532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solo aprendes. Te enseñamos a cobrar lo que vales.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entre un equipo BI promedio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un equipo BI extraordinario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método estándar.</a:t>
            </a:r>
            <a:endParaRPr lang="en-US" sz="5600" dirty="0"/>
          </a:p>
        </p:txBody>
      </p:sp>
      <p:sp>
        <p:nvSpPr>
          <p:cNvPr id="7" name="Shape 5"/>
          <p:cNvSpPr/>
          <p:nvPr/>
        </p:nvSpPr>
        <p:spPr>
          <a:xfrm>
            <a:off x="4114800" y="3931920"/>
            <a:ext cx="3931920" cy="0"/>
          </a:xfrm>
          <a:prstGeom prst="line">
            <a:avLst/>
          </a:prstGeom>
          <a:noFill/>
          <a:ln w="38100">
            <a:solidFill>
              <a:srgbClr val="2F6F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guillermorc44@gmail.com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In-Company VIP  ·  Propuesta válida 7 días  · 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2BI · Business Intelligence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2BI — In-Company VIP</dc:title>
  <dc:subject>PptxGenJS Presentation</dc:subject>
  <dc:creator>2BI</dc:creator>
  <cp:lastModifiedBy>2BI</cp:lastModifiedBy>
  <cp:revision>1</cp:revision>
  <dcterms:created xsi:type="dcterms:W3CDTF">2026-05-08T04:07:07Z</dcterms:created>
  <dcterms:modified xsi:type="dcterms:W3CDTF">2026-05-08T04:07:07Z</dcterms:modified>
</cp:coreProperties>
</file>